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9964cb49d84448" /><Relationship Type="http://schemas.openxmlformats.org/officeDocument/2006/relationships/extended-properties" Target="/docProps/app.xml" Id="R1ccf69ac9ee34ab1" /><Relationship Type="http://schemas.openxmlformats.org/officeDocument/2006/relationships/officeDocument" Target="/ppt/presentation.xml" Id="R49b561b2823747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2fe2bc0490461f"/>
  </p:sldMasterIdLst>
  <p:notesMasterIdLst>
    <p:notesMasterId xmlns:r="http://schemas.openxmlformats.org/officeDocument/2006/relationships" r:id="R200f58d1a64e406f"/>
  </p:notesMasterIdLst>
  <p:sldIdLst>
    <p:sldId xmlns:r="http://schemas.openxmlformats.org/officeDocument/2006/relationships" id="256" r:id="R89fc767a20ac47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0c26da056b4dff" /><Relationship Type="http://schemas.openxmlformats.org/officeDocument/2006/relationships/slideMaster" Target="/ppt/slideMasters/slideMaster1.xml" Id="Rac2fe2bc0490461f" /><Relationship Type="http://schemas.openxmlformats.org/officeDocument/2006/relationships/notesMaster" Target="/ppt/notesMasters/notesMaster1.xml" Id="R200f58d1a64e406f" /><Relationship Type="http://schemas.openxmlformats.org/officeDocument/2006/relationships/presProps" Target="/ppt/presProps.xml" Id="Rb12e394521214889" /><Relationship Type="http://schemas.openxmlformats.org/officeDocument/2006/relationships/tableStyles" Target="/ppt/tableStyles.xml" Id="Rd164555e38164b20" /><Relationship Type="http://schemas.openxmlformats.org/officeDocument/2006/relationships/slide" Target="/ppt/slides/slide1.xml" Id="R89fc767a20ac47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d38278eff548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42875" dist="57150" dir="5400000">
              <a:srgbClr val="28466A">
                <a:alpha val="11000"/>
              </a:srgbClr>
            </a:outerShdw>
          </a:effectLst>
        </a:effectStyle>
        <a:effectStyle>
          <a:effectLst>
            <a:outerShdw blurRad="247650" dist="95250" dir="5400000">
              <a:srgbClr val="295A8F">
                <a:alpha val="18000"/>
              </a:srgbClr>
            </a:outerShdw>
          </a:effectLst>
        </a:effectStyle>
        <a:effectStyle>
          <a:effectLst>
            <a:outerShdw blurRad="123825" dist="47625" dir="5400000">
              <a:srgbClr val="28466A">
                <a:alpha val="9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3fdef4ed8f44ca" /><Relationship Type="http://schemas.openxmlformats.org/officeDocument/2006/relationships/notesMaster" Target="/ppt/notesMasters/notesMaster1.xml" Id="R401371f4766243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469c98d0b74e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0b85892e644b97" /><Relationship Type="http://schemas.openxmlformats.org/officeDocument/2006/relationships/slideLayout" Target="/ppt/slideLayouts/slideLayout1.xml" Id="R1700099c280b45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00099c280b45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42875" dist="57150" dir="5400000">
              <a:srgbClr val="28466A">
                <a:alpha val="11000"/>
              </a:srgbClr>
            </a:outerShdw>
          </a:effectLst>
        </a:effectStyle>
        <a:effectStyle>
          <a:effectLst>
            <a:outerShdw blurRad="247650" dist="95250" dir="5400000">
              <a:srgbClr val="295A8F">
                <a:alpha val="18000"/>
              </a:srgbClr>
            </a:outerShdw>
          </a:effectLst>
        </a:effectStyle>
        <a:effectStyle>
          <a:effectLst>
            <a:outerShdw blurRad="123825" dist="47625" dir="5400000">
              <a:srgbClr val="28466A">
                <a:alpha val="9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4634c87174197" /><Relationship Type="http://schemas.openxmlformats.org/officeDocument/2006/relationships/notesSlide" Target="/ppt/notesSlides/notesSlide1.xml" Id="Rfc2508bb43b74d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9D3AA10-D87C-4E35-B465-DF0E8F34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4825"/>
            <a:ext cx="47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E00AF5-4C30-4F56-BCA5-F174B996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"/>
            <a:ext cx="904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기술적 챌린지 02: 난이도 분류 모델 개발</a:t>
            </a:r>
          </a:p>
        </p:txBody>
      </p:sp>
      <p:sp>
        <p:nvSpPr>
          <p:cNvPr id="3" name="after-pill">
            <a:extLst xmlns:a="http://schemas.openxmlformats.org/drawingml/2006/main">
              <a:ext uri="{FF2B5EF4-FFF2-40B4-BE49-F238E27FC236}">
                <a16:creationId xmlns:a16="http://schemas.microsoft.com/office/drawing/2014/main" id="{957CD618-BE38-445F-BD99-7DCB45F5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4859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869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after</a:t>
            </a:r>
          </a:p>
        </p:txBody>
      </p:sp>
      <p:sp>
        <p:nvSpPr>
          <p:cNvPr id="4" name="input-label">
            <a:extLst xmlns:a="http://schemas.openxmlformats.org/drawingml/2006/main">
              <a:ext uri="{FF2B5EF4-FFF2-40B4-BE49-F238E27FC236}">
                <a16:creationId xmlns:a16="http://schemas.microsoft.com/office/drawing/2014/main" id="{CDCEF3EA-9C3F-42D3-8E16-388C4E1F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8557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85574"/>
                </a:solidFill>
                <a:latin typeface="Malgun Gothic"/>
                <a:ea typeface="Malgun Gothic"/>
                <a:cs typeface="Malgun Gothic"/>
              </a:rPr>
              <a:t>입력 문장</a:t>
            </a:r>
          </a:p>
        </p:txBody>
      </p:sp>
      <p:sp>
        <p:nvSpPr>
          <p:cNvPr id="5" name="model-label">
            <a:extLst xmlns:a="http://schemas.openxmlformats.org/drawingml/2006/main">
              <a:ext uri="{FF2B5EF4-FFF2-40B4-BE49-F238E27FC236}">
                <a16:creationId xmlns:a16="http://schemas.microsoft.com/office/drawing/2014/main" id="{53AABEF3-680C-4DA4-A928-A48C2EFF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717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8557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85574"/>
                </a:solidFill>
                <a:latin typeface="Malgun Gothic"/>
                <a:ea typeface="Malgun Gothic"/>
                <a:cs typeface="Malgun Gothic"/>
              </a:rPr>
              <a:t>문장 임베딩</a:t>
            </a:r>
          </a:p>
        </p:txBody>
      </p:sp>
      <p:sp>
        <p:nvSpPr>
          <p:cNvPr id="6" name="vector-label">
            <a:extLst xmlns:a="http://schemas.openxmlformats.org/drawingml/2006/main">
              <a:ext uri="{FF2B5EF4-FFF2-40B4-BE49-F238E27FC236}">
                <a16:creationId xmlns:a16="http://schemas.microsoft.com/office/drawing/2014/main" id="{1B2DF906-3D50-4A6B-A09B-5EB012EF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3371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8557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85574"/>
                </a:solidFill>
                <a:latin typeface="Malgun Gothic"/>
                <a:ea typeface="Malgun Gothic"/>
                <a:cs typeface="Malgun Gothic"/>
              </a:rPr>
              <a:t>수치 벡터 예시</a:t>
            </a:r>
          </a:p>
        </p:txBody>
      </p:sp>
      <p:sp>
        <p:nvSpPr>
          <p:cNvPr id="7" name="model-anchor-1">
            <a:extLst xmlns:a="http://schemas.openxmlformats.org/drawingml/2006/main">
              <a:ext uri="{FF2B5EF4-FFF2-40B4-BE49-F238E27FC236}">
                <a16:creationId xmlns:a16="http://schemas.microsoft.com/office/drawing/2014/main" id="{A1A5C553-4231-4610-AEC2-C4872F2E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575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del-anchor-2">
            <a:extLst xmlns:a="http://schemas.openxmlformats.org/drawingml/2006/main">
              <a:ext uri="{FF2B5EF4-FFF2-40B4-BE49-F238E27FC236}">
                <a16:creationId xmlns:a16="http://schemas.microsoft.com/office/drawing/2014/main" id="{F3D0CE73-393D-4781-BF27-446215DE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814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odel-anchor-3">
            <a:extLst xmlns:a="http://schemas.openxmlformats.org/drawingml/2006/main">
              <a:ext uri="{FF2B5EF4-FFF2-40B4-BE49-F238E27FC236}">
                <a16:creationId xmlns:a16="http://schemas.microsoft.com/office/drawing/2014/main" id="{7F33617C-99F7-47C5-83A9-333F8AF8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053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put-anchor-1">
            <a:extLst xmlns:a="http://schemas.openxmlformats.org/drawingml/2006/main">
              <a:ext uri="{FF2B5EF4-FFF2-40B4-BE49-F238E27FC236}">
                <a16:creationId xmlns:a16="http://schemas.microsoft.com/office/drawing/2014/main" id="{A9090961-B737-4CAF-8B7E-C505BC1C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3486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put-anchor-2">
            <a:extLst xmlns:a="http://schemas.openxmlformats.org/drawingml/2006/main">
              <a:ext uri="{FF2B5EF4-FFF2-40B4-BE49-F238E27FC236}">
                <a16:creationId xmlns:a16="http://schemas.microsoft.com/office/drawing/2014/main" id="{2BDD67AC-7D67-4B9B-BB5D-AF2A848A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3486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nput-anchor-3">
            <a:extLst xmlns:a="http://schemas.openxmlformats.org/drawingml/2006/main">
              <a:ext uri="{FF2B5EF4-FFF2-40B4-BE49-F238E27FC236}">
                <a16:creationId xmlns:a16="http://schemas.microsoft.com/office/drawing/2014/main" id="{38650710-3652-4864-8889-8BAB0A57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3486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ctor-anchor-1">
            <a:extLst xmlns:a="http://schemas.openxmlformats.org/drawingml/2006/main">
              <a:ext uri="{FF2B5EF4-FFF2-40B4-BE49-F238E27FC236}">
                <a16:creationId xmlns:a16="http://schemas.microsoft.com/office/drawing/2014/main" id="{D24D8E55-24B5-4FFE-AEBB-2AA9CFF8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95600"/>
            <a:ext cx="337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ector-anchor-2">
            <a:extLst xmlns:a="http://schemas.openxmlformats.org/drawingml/2006/main">
              <a:ext uri="{FF2B5EF4-FFF2-40B4-BE49-F238E27FC236}">
                <a16:creationId xmlns:a16="http://schemas.microsoft.com/office/drawing/2014/main" id="{78FD6031-6158-4D60-A775-9013765F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337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ector-anchor-3">
            <a:extLst xmlns:a="http://schemas.openxmlformats.org/drawingml/2006/main">
              <a:ext uri="{FF2B5EF4-FFF2-40B4-BE49-F238E27FC236}">
                <a16:creationId xmlns:a16="http://schemas.microsoft.com/office/drawing/2014/main" id="{7BBA3450-088D-4036-ABA0-9EA2E714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337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3" name="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267200" y="31623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B869D"/>
            </a:solidFill>
            <a:prstDash val="dot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029450" y="31623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B869D"/>
            </a:solidFill>
            <a:prstDash val="dot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1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267200" y="38862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B869D"/>
            </a:solidFill>
            <a:prstDash val="dot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29450" y="38862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B869D"/>
            </a:solidFill>
            <a:prstDash val="dot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2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67200" y="46101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B869D"/>
            </a:solidFill>
            <a:prstDash val="dot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029450" y="46101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B869D"/>
            </a:solidFill>
            <a:prstDash val="dot"/>
            <a:tailEnd type="triangle" w="sm" len="sm"/>
          </a:ln>
        </p:spPr>
      </p:cxnSp>
      <p:sp>
        <p:nvSpPr>
          <p:cNvPr id="22" name="input-card-1">
            <a:extLst xmlns:a="http://schemas.openxmlformats.org/drawingml/2006/main">
              <a:ext uri="{FF2B5EF4-FFF2-40B4-BE49-F238E27FC236}">
                <a16:creationId xmlns:a16="http://schemas.microsoft.com/office/drawing/2014/main" id="{AED95DEA-47CB-4A20-89AA-E5C02A82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3486150" cy="533400"/>
          </a:xfrm>
          <a:prstGeom xmlns:a="http://schemas.openxmlformats.org/drawingml/2006/main" prst="roundRect">
            <a:avLst>
              <a:gd name="adj" fmla="val 26786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9FBFE"/>
              </a:gs>
            </a:gsLst>
            <a:lin ang="0"/>
          </a:gradFill>
          <a:ln xmlns:a="http://schemas.openxmlformats.org/drawingml/2006/main" w="11906">
            <a:solidFill>
              <a:srgbClr val="A8CB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input-number-1">
            <a:extLst xmlns:a="http://schemas.openxmlformats.org/drawingml/2006/main">
              <a:ext uri="{FF2B5EF4-FFF2-40B4-BE49-F238E27FC236}">
                <a16:creationId xmlns:a16="http://schemas.microsoft.com/office/drawing/2014/main" id="{DCDB0369-5B3E-40CE-A783-F1735CCA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19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4" name="input-text-1">
            <a:extLst xmlns:a="http://schemas.openxmlformats.org/drawingml/2006/main">
              <a:ext uri="{FF2B5EF4-FFF2-40B4-BE49-F238E27FC236}">
                <a16:creationId xmlns:a16="http://schemas.microsoft.com/office/drawing/2014/main" id="{62B42BA8-6A9D-4229-B3ED-C238499C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요청을 한 문장으로 요약해 줘</a:t>
            </a:r>
          </a:p>
        </p:txBody>
      </p:sp>
      <p:sp>
        <p:nvSpPr>
          <p:cNvPr id="25" name="input-card-2">
            <a:extLst xmlns:a="http://schemas.openxmlformats.org/drawingml/2006/main">
              <a:ext uri="{FF2B5EF4-FFF2-40B4-BE49-F238E27FC236}">
                <a16:creationId xmlns:a16="http://schemas.microsoft.com/office/drawing/2014/main" id="{D241B867-F428-4DEE-B975-3D440612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3486150" cy="533400"/>
          </a:xfrm>
          <a:prstGeom xmlns:a="http://schemas.openxmlformats.org/drawingml/2006/main" prst="roundRect">
            <a:avLst>
              <a:gd name="adj" fmla="val 26786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9FBFE"/>
              </a:gs>
            </a:gsLst>
            <a:lin ang="0"/>
          </a:gradFill>
          <a:ln xmlns:a="http://schemas.openxmlformats.org/drawingml/2006/main" w="11906">
            <a:solidFill>
              <a:srgbClr val="A8CB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6" name="input-number-2">
            <a:extLst xmlns:a="http://schemas.openxmlformats.org/drawingml/2006/main">
              <a:ext uri="{FF2B5EF4-FFF2-40B4-BE49-F238E27FC236}">
                <a16:creationId xmlns:a16="http://schemas.microsoft.com/office/drawing/2014/main" id="{1C574E38-2EF7-4E50-B6F2-464F3661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43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97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7" name="input-text-2">
            <a:extLst xmlns:a="http://schemas.openxmlformats.org/drawingml/2006/main">
              <a:ext uri="{FF2B5EF4-FFF2-40B4-BE49-F238E27FC236}">
                <a16:creationId xmlns:a16="http://schemas.microsoft.com/office/drawing/2014/main" id="{DB7DD922-25C2-4CE2-8C86-0A3CE9A8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385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예산에 맞는 모델로 라우팅해 줘</a:t>
            </a:r>
          </a:p>
        </p:txBody>
      </p:sp>
      <p:sp>
        <p:nvSpPr>
          <p:cNvPr id="28" name="input-card-3">
            <a:extLst xmlns:a="http://schemas.openxmlformats.org/drawingml/2006/main">
              <a:ext uri="{FF2B5EF4-FFF2-40B4-BE49-F238E27FC236}">
                <a16:creationId xmlns:a16="http://schemas.microsoft.com/office/drawing/2014/main" id="{2BEE703D-DB56-48E4-9415-91D53613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3486150" cy="533400"/>
          </a:xfrm>
          <a:prstGeom xmlns:a="http://schemas.openxmlformats.org/drawingml/2006/main" prst="roundRect">
            <a:avLst>
              <a:gd name="adj" fmla="val 26786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9FBFE"/>
              </a:gs>
            </a:gsLst>
            <a:lin ang="0"/>
          </a:gradFill>
          <a:ln xmlns:a="http://schemas.openxmlformats.org/drawingml/2006/main" w="11906">
            <a:solidFill>
              <a:srgbClr val="A8CB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input-number-3">
            <a:extLst xmlns:a="http://schemas.openxmlformats.org/drawingml/2006/main">
              <a:ext uri="{FF2B5EF4-FFF2-40B4-BE49-F238E27FC236}">
                <a16:creationId xmlns:a16="http://schemas.microsoft.com/office/drawing/2014/main" id="{CB5CB8CD-392C-46B8-B7AA-8904740F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672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A9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0" name="input-text-3">
            <a:extLst xmlns:a="http://schemas.openxmlformats.org/drawingml/2006/main">
              <a:ext uri="{FF2B5EF4-FFF2-40B4-BE49-F238E27FC236}">
                <a16:creationId xmlns:a16="http://schemas.microsoft.com/office/drawing/2014/main" id="{AF81E694-9486-4917-929F-64A91B9A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8"/>
                </a:solidFill>
                <a:latin typeface="Malgun Gothic"/>
                <a:ea typeface="Malgun Gothic"/>
                <a:cs typeface="Malgun Gothic"/>
              </a:rPr>
              <a:t>민감정보 차단과 테넌트 정책을 적용해 줘</a:t>
            </a:r>
          </a:p>
        </p:txBody>
      </p:sp>
      <p:sp>
        <p:nvSpPr>
          <p:cNvPr id="31" name="embedding-model">
            <a:extLst xmlns:a="http://schemas.openxmlformats.org/drawingml/2006/main">
              <a:ext uri="{FF2B5EF4-FFF2-40B4-BE49-F238E27FC236}">
                <a16:creationId xmlns:a16="http://schemas.microsoft.com/office/drawing/2014/main" id="{CB219C46-300D-497A-99DE-C066A4A2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14650"/>
            <a:ext cx="1981200" cy="1924050"/>
          </a:xfrm>
          <a:prstGeom xmlns:a="http://schemas.openxmlformats.org/drawingml/2006/main" prst="roundRect">
            <a:avLst>
              <a:gd name="adj" fmla="val 13861"/>
            </a:avLst>
          </a:prstGeom>
          <a:gradFill xmlns:a="http://schemas.openxmlformats.org/drawingml/2006/main">
            <a:gsLst>
              <a:gs pos="0">
                <a:srgbClr val="DDEEFF"/>
              </a:gs>
              <a:gs pos="58000">
                <a:srgbClr val="B8D9FA"/>
              </a:gs>
              <a:gs pos="100000">
                <a:srgbClr val="94C5F4"/>
              </a:gs>
            </a:gsLst>
            <a:lin ang="18900000"/>
          </a:gradFill>
          <a:ln xmlns:a="http://schemas.openxmlformats.org/drawingml/2006/main" w="12383">
            <a:solidFill>
              <a:srgbClr val="91BF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2" name="embedding-badge">
            <a:extLst xmlns:a="http://schemas.openxmlformats.org/drawingml/2006/main">
              <a:ext uri="{FF2B5EF4-FFF2-40B4-BE49-F238E27FC236}">
                <a16:creationId xmlns:a16="http://schemas.microsoft.com/office/drawing/2014/main" id="{B9AA31F6-7CC9-4370-A312-8612FE9E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33725"/>
            <a:ext cx="914400" cy="295275"/>
          </a:xfrm>
          <a:prstGeom xmlns:a="http://schemas.openxmlformats.org/drawingml/2006/main" prst="roundRect">
            <a:avLst>
              <a:gd name="adj" fmla="val 48387"/>
            </a:avLst>
          </a:prstGeom>
          <a:solidFill xmlns:a="http://schemas.openxmlformats.org/drawingml/2006/main">
            <a:srgbClr val="FFFFFF">
              <a:alpha val="76000"/>
            </a:srgbClr>
          </a:solidFill>
          <a:ln xmlns:a="http://schemas.openxmlformats.org/drawingml/2006/main" w="9525">
            <a:solidFill>
              <a:srgbClr val="FFFFFF">
                <a:alpha val="5500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ENCODER</a:t>
            </a:r>
          </a:p>
        </p:txBody>
      </p:sp>
      <p:sp>
        <p:nvSpPr>
          <p:cNvPr id="33" name="embedding-title">
            <a:extLst xmlns:a="http://schemas.openxmlformats.org/drawingml/2006/main">
              <a:ext uri="{FF2B5EF4-FFF2-40B4-BE49-F238E27FC236}">
                <a16:creationId xmlns:a16="http://schemas.microsoft.com/office/drawing/2014/main" id="{BCE84697-9A84-4912-96F9-3A6D16C0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14725"/>
            <a:ext cx="1600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950" b="1">
                <a:solidFill>
                  <a:srgbClr val="173D6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3D64"/>
                </a:solidFill>
                <a:latin typeface="Malgun Gothic"/>
                <a:ea typeface="Malgun Gothic"/>
                <a:cs typeface="Malgun Gothic"/>
              </a:rPr>
              <a:t>문장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950" b="1">
                <a:solidFill>
                  <a:srgbClr val="173D6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3D64"/>
                </a:solidFill>
                <a:latin typeface="Malgun Gothic"/>
                <a:ea typeface="Malgun Gothic"/>
                <a:cs typeface="Malgun Gothic"/>
              </a:rPr>
              <a:t>임베딩 모델</a:t>
            </a:r>
          </a:p>
        </p:txBody>
      </p:sp>
      <p:sp>
        <p:nvSpPr>
          <p:cNvPr id="34" name="embedding-caption">
            <a:extLst xmlns:a="http://schemas.openxmlformats.org/drawingml/2006/main">
              <a:ext uri="{FF2B5EF4-FFF2-40B4-BE49-F238E27FC236}">
                <a16:creationId xmlns:a16="http://schemas.microsoft.com/office/drawing/2014/main" id="{F9AEFB3E-9D8D-4EA4-AAEE-B81E3FA3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7197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D6E8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D6E8E"/>
                </a:solidFill>
                <a:latin typeface="Malgun Gothic"/>
                <a:ea typeface="Malgun Gothic"/>
                <a:cs typeface="Malgun Gothic"/>
              </a:rPr>
              <a:t>의미와 문맥을 인코딩</a:t>
            </a:r>
          </a:p>
        </p:txBody>
      </p:sp>
      <p:sp>
        <p:nvSpPr>
          <p:cNvPr id="35" name="vector-card-1">
            <a:extLst xmlns:a="http://schemas.openxmlformats.org/drawingml/2006/main">
              <a:ext uri="{FF2B5EF4-FFF2-40B4-BE49-F238E27FC236}">
                <a16:creationId xmlns:a16="http://schemas.microsoft.com/office/drawing/2014/main" id="{DE920AFE-A912-4A5A-A50A-F77FCABC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95600"/>
            <a:ext cx="3371850" cy="5334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ECF5FF"/>
              </a:gs>
              <a:gs pos="100000">
                <a:srgbClr val="D9EBFE"/>
              </a:gs>
            </a:gsLst>
            <a:lin ang="0"/>
          </a:gradFill>
          <a:ln xmlns:a="http://schemas.openxmlformats.org/drawingml/2006/main" w="10478">
            <a:solidFill>
              <a:srgbClr val="B6D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6" name="vector-accent-1">
            <a:extLst xmlns:a="http://schemas.openxmlformats.org/drawingml/2006/main">
              <a:ext uri="{FF2B5EF4-FFF2-40B4-BE49-F238E27FC236}">
                <a16:creationId xmlns:a16="http://schemas.microsoft.com/office/drawing/2014/main" id="{9515D70B-5211-4F81-BFD9-4AD808D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99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vector-text-1">
            <a:extLst xmlns:a="http://schemas.openxmlformats.org/drawingml/2006/main">
              <a:ext uri="{FF2B5EF4-FFF2-40B4-BE49-F238E27FC236}">
                <a16:creationId xmlns:a16="http://schemas.microsoft.com/office/drawing/2014/main" id="{789919AF-9BFA-4ED7-B0A2-947F3F39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855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85574"/>
                </a:solidFill>
                <a:latin typeface="Malgun Gothic"/>
                <a:ea typeface="Malgun Gothic"/>
                <a:cs typeface="Malgun Gothic"/>
              </a:rPr>
              <a:t>0.18  |  −0.42  |  …  |  0.31</a:t>
            </a:r>
          </a:p>
        </p:txBody>
      </p:sp>
      <p:sp>
        <p:nvSpPr>
          <p:cNvPr id="38" name="vector-card-2">
            <a:extLst xmlns:a="http://schemas.openxmlformats.org/drawingml/2006/main">
              <a:ext uri="{FF2B5EF4-FFF2-40B4-BE49-F238E27FC236}">
                <a16:creationId xmlns:a16="http://schemas.microsoft.com/office/drawing/2014/main" id="{73DC99D6-0B72-49AA-BEA4-E00999F5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3371850" cy="5334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FFF9E8"/>
              </a:gs>
              <a:gs pos="100000">
                <a:srgbClr val="FFF0C2"/>
              </a:gs>
            </a:gsLst>
            <a:lin ang="0"/>
          </a:gradFill>
          <a:ln xmlns:a="http://schemas.openxmlformats.org/drawingml/2006/main" w="10478">
            <a:solidFill>
              <a:srgbClr val="F2DA9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9" name="vector-accent-2">
            <a:extLst xmlns:a="http://schemas.openxmlformats.org/drawingml/2006/main">
              <a:ext uri="{FF2B5EF4-FFF2-40B4-BE49-F238E27FC236}">
                <a16:creationId xmlns:a16="http://schemas.microsoft.com/office/drawing/2014/main" id="{05BACDDE-CF00-4958-AA61-EBCF6CF2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9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vector-text-2">
            <a:extLst xmlns:a="http://schemas.openxmlformats.org/drawingml/2006/main">
              <a:ext uri="{FF2B5EF4-FFF2-40B4-BE49-F238E27FC236}">
                <a16:creationId xmlns:a16="http://schemas.microsoft.com/office/drawing/2014/main" id="{E4DB69F7-634D-4544-AF65-9EF307B0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385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855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85574"/>
                </a:solidFill>
                <a:latin typeface="Malgun Gothic"/>
                <a:ea typeface="Malgun Gothic"/>
                <a:cs typeface="Malgun Gothic"/>
              </a:rPr>
              <a:t>−0.07  |  0.56  |  …  |  −0.12</a:t>
            </a:r>
          </a:p>
        </p:txBody>
      </p:sp>
      <p:sp>
        <p:nvSpPr>
          <p:cNvPr id="41" name="vector-card-3">
            <a:extLst xmlns:a="http://schemas.openxmlformats.org/drawingml/2006/main">
              <a:ext uri="{FF2B5EF4-FFF2-40B4-BE49-F238E27FC236}">
                <a16:creationId xmlns:a16="http://schemas.microsoft.com/office/drawing/2014/main" id="{33236090-666E-4610-904F-D5C7AE4D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3371850" cy="533400"/>
          </a:xfrm>
          <a:prstGeom xmlns:a="http://schemas.openxmlformats.org/drawingml/2006/main" prst="roundRect">
            <a:avLst>
              <a:gd name="adj" fmla="val 32143"/>
            </a:avLst>
          </a:prstGeom>
          <a:gradFill xmlns:a="http://schemas.openxmlformats.org/drawingml/2006/main">
            <a:gsLst>
              <a:gs pos="0">
                <a:srgbClr val="F0FAEF"/>
              </a:gs>
              <a:gs pos="100000">
                <a:srgbClr val="DCF2D9"/>
              </a:gs>
            </a:gsLst>
            <a:lin ang="0"/>
          </a:gradFill>
          <a:ln xmlns:a="http://schemas.openxmlformats.org/drawingml/2006/main" w="10478">
            <a:solidFill>
              <a:srgbClr val="BDDF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2" name="vector-accent-3">
            <a:extLst xmlns:a="http://schemas.openxmlformats.org/drawingml/2006/main">
              <a:ext uri="{FF2B5EF4-FFF2-40B4-BE49-F238E27FC236}">
                <a16:creationId xmlns:a16="http://schemas.microsoft.com/office/drawing/2014/main" id="{42DAC8E1-EAEA-4C7F-9B02-D1D11936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577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B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vector-text-3">
            <a:extLst xmlns:a="http://schemas.openxmlformats.org/drawingml/2006/main">
              <a:ext uri="{FF2B5EF4-FFF2-40B4-BE49-F238E27FC236}">
                <a16:creationId xmlns:a16="http://schemas.microsoft.com/office/drawing/2014/main" id="{D9C1FE7B-FCCB-4DD3-96E8-F3B9C44C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624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855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85574"/>
                </a:solidFill>
                <a:latin typeface="Malgun Gothic"/>
                <a:ea typeface="Malgun Gothic"/>
                <a:cs typeface="Malgun Gothic"/>
              </a:rPr>
              <a:t>0.43  |  0.09  |  …  |  −0.38</a:t>
            </a:r>
          </a:p>
        </p:txBody>
      </p:sp>
      <p:sp>
        <p:nvSpPr>
          <p:cNvPr id="44" name="footer-left-title">
            <a:extLst xmlns:a="http://schemas.openxmlformats.org/drawingml/2006/main">
              <a:ext uri="{FF2B5EF4-FFF2-40B4-BE49-F238E27FC236}">
                <a16:creationId xmlns:a16="http://schemas.microsoft.com/office/drawing/2014/main" id="{B3FC816D-F040-4C16-8041-75AD1C0A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인코더 모델 활용</a:t>
            </a:r>
          </a:p>
        </p:txBody>
      </p:sp>
      <p:sp>
        <p:nvSpPr>
          <p:cNvPr id="45" name="footer-left-subtitle">
            <a:extLst xmlns:a="http://schemas.openxmlformats.org/drawingml/2006/main">
              <a:ext uri="{FF2B5EF4-FFF2-40B4-BE49-F238E27FC236}">
                <a16:creationId xmlns:a16="http://schemas.microsoft.com/office/drawing/2014/main" id="{349CC1A9-D79E-4140-B99D-331A42C8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9817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문맥적 특징 추출</a:t>
            </a:r>
          </a:p>
        </p:txBody>
      </p:sp>
      <p:sp>
        <p:nvSpPr>
          <p:cNvPr id="46" name="footer-right-title">
            <a:extLst xmlns:a="http://schemas.openxmlformats.org/drawingml/2006/main">
              <a:ext uri="{FF2B5EF4-FFF2-40B4-BE49-F238E27FC236}">
                <a16:creationId xmlns:a16="http://schemas.microsoft.com/office/drawing/2014/main" id="{4B8DC698-310D-471E-BEDC-82993759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5780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최적의 머신러닝 모델</a:t>
            </a:r>
          </a:p>
        </p:txBody>
      </p:sp>
      <p:sp>
        <p:nvSpPr>
          <p:cNvPr id="47" name="footer-right-subtitle">
            <a:extLst xmlns:a="http://schemas.openxmlformats.org/drawingml/2006/main">
              <a:ext uri="{FF2B5EF4-FFF2-40B4-BE49-F238E27FC236}">
                <a16:creationId xmlns:a16="http://schemas.microsoft.com/office/drawing/2014/main" id="{DFB1B666-B22E-4AEF-860A-65FA9278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817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로지스틱 회귀</a:t>
            </a:r>
          </a:p>
        </p:txBody>
      </p:sp>
    </p:spTree>
    <p:extLst>
      <p:ext uri="{BB962C8B-B14F-4D97-AF65-F5344CB8AC3E}">
        <p14:creationId xmlns:p14="http://schemas.microsoft.com/office/powerpoint/2010/main" val="1058210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42875" dist="57150" dir="5400000">
              <a:srgbClr val="28466A">
                <a:alpha val="11000"/>
              </a:srgbClr>
            </a:outerShdw>
          </a:effectLst>
        </a:effectStyle>
        <a:effectStyle>
          <a:effectLst>
            <a:outerShdw blurRad="247650" dist="95250" dir="5400000">
              <a:srgbClr val="295A8F">
                <a:alpha val="18000"/>
              </a:srgbClr>
            </a:outerShdw>
          </a:effectLst>
        </a:effectStyle>
        <a:effectStyle>
          <a:effectLst>
            <a:outerShdw blurRad="123825" dist="47625" dir="5400000">
              <a:srgbClr val="28466A">
                <a:alpha val="9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2026-07-19T23:30:31.6930000Z</dcterms:created>
  <dcterms:modified xsi:type="dcterms:W3CDTF">2026-07-19T23:30:31.6930000Z</dcterms:modified>
</coreProperties>
</file>