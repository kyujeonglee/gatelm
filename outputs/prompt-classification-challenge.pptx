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f5eefa7a041ed" /><Relationship Type="http://schemas.openxmlformats.org/officeDocument/2006/relationships/extended-properties" Target="/docProps/app.xml" Id="Rb0a965dc0736459f" /><Relationship Type="http://schemas.openxmlformats.org/officeDocument/2006/relationships/officeDocument" Target="/ppt/presentation.xml" Id="R8dee2296ada7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41dd95d2724d08"/>
  </p:sldMasterIdLst>
  <p:notesMasterIdLst>
    <p:notesMasterId xmlns:r="http://schemas.openxmlformats.org/officeDocument/2006/relationships" r:id="R15d2bc15b2ba4b6e"/>
  </p:notesMasterIdLst>
  <p:sldIdLst>
    <p:sldId xmlns:r="http://schemas.openxmlformats.org/officeDocument/2006/relationships" id="256" r:id="R835f0250df1248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6df0394204175" /><Relationship Type="http://schemas.openxmlformats.org/officeDocument/2006/relationships/slideMaster" Target="/ppt/slideMasters/slideMaster1.xml" Id="R4b41dd95d2724d08" /><Relationship Type="http://schemas.openxmlformats.org/officeDocument/2006/relationships/notesMaster" Target="/ppt/notesMasters/notesMaster1.xml" Id="R15d2bc15b2ba4b6e" /><Relationship Type="http://schemas.openxmlformats.org/officeDocument/2006/relationships/presProps" Target="/ppt/presProps.xml" Id="Rc04704f9260b45a1" /><Relationship Type="http://schemas.openxmlformats.org/officeDocument/2006/relationships/tableStyles" Target="/ppt/tableStyles.xml" Id="R2c4227a06d1e427f" /><Relationship Type="http://schemas.openxmlformats.org/officeDocument/2006/relationships/slide" Target="/ppt/slides/slide1.xml" Id="R835f0250df12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dc050a2ba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3bbb4df7d49b2" /><Relationship Type="http://schemas.openxmlformats.org/officeDocument/2006/relationships/notesMaster" Target="/ppt/notesMasters/notesMaster1.xml" Id="Re57c713766dd4d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a946ac9d2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ab66d3fe64d0c" /><Relationship Type="http://schemas.openxmlformats.org/officeDocument/2006/relationships/slideLayout" Target="/ppt/slideLayouts/slideLayout1.xml" Id="R3b6a5c0577f4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a5c0577f4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b020984dd4d53" /><Relationship Type="http://schemas.openxmlformats.org/officeDocument/2006/relationships/notesSlide" Target="/ppt/notesSlides/notesSlide1.xml" Id="R219735d3cf03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3E5047F-7B12-48FB-BB04-77A0AA9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3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C71107-53E7-4009-80DD-93B488D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72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70A"/>
                </a:solidFill>
              </a:defRPr>
            </a:pPr>
            <a:r>
              <a:rPr sz="3150" b="1">
                <a:solidFill>
                  <a:srgbClr val="05070A"/>
                </a:solidFill>
              </a:rPr>
              <a:t>기술적 챌린지 02: 프롬프트 분류 모델 개발</a:t>
            </a:r>
          </a:p>
        </p:txBody>
      </p:sp>
      <p:sp>
        <p:nvSpPr>
          <p:cNvPr id="3" name="takeaway-subtitle">
            <a:extLst xmlns:a="http://schemas.openxmlformats.org/drawingml/2006/main">
              <a:ext uri="{FF2B5EF4-FFF2-40B4-BE49-F238E27FC236}">
                <a16:creationId xmlns:a16="http://schemas.microsoft.com/office/drawing/2014/main" id="{345EE6B0-F74A-482A-8E97-A65868D6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5252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길이·키워드 중심 분류의 한계를 의미 기반 특징으로 해결</a:t>
            </a:r>
          </a:p>
        </p:txBody>
      </p:sp>
      <p:sp>
        <p:nvSpPr>
          <p:cNvPr id="4" name="rule-baseline-surface">
            <a:extLst xmlns:a="http://schemas.openxmlformats.org/drawingml/2006/main">
              <a:ext uri="{FF2B5EF4-FFF2-40B4-BE49-F238E27FC236}">
                <a16:creationId xmlns:a16="http://schemas.microsoft.com/office/drawing/2014/main" id="{C4CEA100-9D73-42F2-89B2-796727CE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387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embedding-model-surface">
            <a:extLst xmlns:a="http://schemas.openxmlformats.org/drawingml/2006/main">
              <a:ext uri="{FF2B5EF4-FFF2-40B4-BE49-F238E27FC236}">
                <a16:creationId xmlns:a16="http://schemas.microsoft.com/office/drawing/2014/main" id="{0529AF25-2104-4078-BBDD-8164FAB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8387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8B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improvement-arrow">
            <a:extLst xmlns:a="http://schemas.openxmlformats.org/drawingml/2006/main">
              <a:ext uri="{FF2B5EF4-FFF2-40B4-BE49-F238E27FC236}">
                <a16:creationId xmlns:a16="http://schemas.microsoft.com/office/drawing/2014/main" id="{D20DEEC3-8F77-4B28-B88F-CEF6BE96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48000"/>
            <a:ext cx="5334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3E2"/>
          </a:solidFill>
          <a:ln xmlns:a="http://schemas.openxmlformats.org/drawingml/2006/main" w="4763">
            <a:solidFill>
              <a:srgbClr val="2483E2"/>
            </a:solidFill>
            <a:prstDash val="solid"/>
          </a:ln>
        </p:spPr>
      </p:sp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05561F1F-75A7-4D4E-A894-E980186B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A8798"/>
                </a:solidFill>
              </a:defRPr>
            </a:pPr>
            <a:r>
              <a:rPr sz="1050" b="1">
                <a:solidFill>
                  <a:srgbClr val="7A8798"/>
                </a:solidFill>
              </a:rPr>
              <a:t>BEFORE</a:t>
            </a:r>
          </a:p>
        </p:txBody>
      </p:sp>
      <p:sp>
        <p:nvSpPr>
          <p:cNvPr id="8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EABE6FB8-D9AF-40A7-B523-0A2F074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</a:defRPr>
            </a:pPr>
            <a:r>
              <a:rPr sz="2025" b="1">
                <a:solidFill>
                  <a:srgbClr val="1F2937"/>
                </a:solidFill>
              </a:rPr>
              <a:t>규칙 특징 기반</a:t>
            </a:r>
          </a:p>
        </p:txBody>
      </p:sp>
      <p:sp>
        <p:nvSpPr>
          <p:cNvPr id="9" name="before-method">
            <a:extLst xmlns:a="http://schemas.openxmlformats.org/drawingml/2006/main">
              <a:ext uri="{FF2B5EF4-FFF2-40B4-BE49-F238E27FC236}">
                <a16:creationId xmlns:a16="http://schemas.microsoft.com/office/drawing/2014/main" id="{5CDD0B11-0C44-4DCF-A4EE-E3F2A57B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길이 · 키워드 · 작업 수 등 42D 규칙 특징</a:t>
            </a:r>
          </a:p>
        </p:txBody>
      </p:sp>
      <p:sp>
        <p:nvSpPr>
          <p:cNvPr id="10" name="example-prompt-box">
            <a:extLst xmlns:a="http://schemas.openxmlformats.org/drawingml/2006/main">
              <a:ext uri="{FF2B5EF4-FFF2-40B4-BE49-F238E27FC236}">
                <a16:creationId xmlns:a16="http://schemas.microsoft.com/office/drawing/2014/main" id="{482D68FD-8DA3-4190-A589-3AB355DF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038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3E7ED"/>
            </a:solidFill>
            <a:prstDash val="solid"/>
          </a:ln>
        </p:spPr>
      </p:sp>
      <p:sp>
        <p:nvSpPr>
          <p:cNvPr id="11" name="example-prompt">
            <a:extLst xmlns:a="http://schemas.openxmlformats.org/drawingml/2006/main">
              <a:ext uri="{FF2B5EF4-FFF2-40B4-BE49-F238E27FC236}">
                <a16:creationId xmlns:a16="http://schemas.microsoft.com/office/drawing/2014/main" id="{8D766C72-E826-436B-89DA-70571DB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3667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“두 전략을 비교·평가하고</a:t>
            </a:r>
          </a:p>
          <a:p xmlns:a="http://schemas.openxmlformats.org/drawingml/2006/main">
            <a:pPr algn="ctr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실행안을 제안해 줘”</a:t>
            </a:r>
          </a:p>
        </p:txBody>
      </p:sp>
      <p:sp>
        <p:nvSpPr>
          <p:cNvPr id="12" name="before-misroute">
            <a:extLst xmlns:a="http://schemas.openxmlformats.org/drawingml/2006/main">
              <a:ext uri="{FF2B5EF4-FFF2-40B4-BE49-F238E27FC236}">
                <a16:creationId xmlns:a16="http://schemas.microsoft.com/office/drawing/2014/main" id="{526B2319-0F83-4777-8840-6E59327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5564B"/>
                </a:solidFill>
              </a:defRPr>
            </a:pPr>
            <a:r>
              <a:rPr sz="1125" b="1">
                <a:solidFill>
                  <a:srgbClr val="D5564B"/>
                </a:solidFill>
              </a:rPr>
              <a:t>짧은 요청 → 단순 요청으로 오판</a:t>
            </a:r>
          </a:p>
        </p:txBody>
      </p:sp>
      <p:sp>
        <p:nvSpPr>
          <p:cNvPr id="13" name="before-accuracy">
            <a:extLst xmlns:a="http://schemas.openxmlformats.org/drawingml/2006/main">
              <a:ext uri="{FF2B5EF4-FFF2-40B4-BE49-F238E27FC236}">
                <a16:creationId xmlns:a16="http://schemas.microsoft.com/office/drawing/2014/main" id="{3B12C759-5A4B-4383-B728-526527BC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B5563"/>
                </a:solidFill>
              </a:defRPr>
            </a:pPr>
            <a:r>
              <a:rPr sz="3450" b="1">
                <a:solidFill>
                  <a:srgbClr val="4B5563"/>
                </a:solidFill>
              </a:rPr>
              <a:t>85.2%</a:t>
            </a:r>
          </a:p>
        </p:txBody>
      </p:sp>
      <p:sp>
        <p:nvSpPr>
          <p:cNvPr id="14" name="before-accuracy-label">
            <a:extLst xmlns:a="http://schemas.openxmlformats.org/drawingml/2006/main">
              <a:ext uri="{FF2B5EF4-FFF2-40B4-BE49-F238E27FC236}">
                <a16:creationId xmlns:a16="http://schemas.microsoft.com/office/drawing/2014/main" id="{EB11A5D1-5310-4D31-8778-61CEFC7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난이도 분류 정확도</a:t>
            </a:r>
          </a:p>
        </p:txBody>
      </p:sp>
      <p:sp>
        <p:nvSpPr>
          <p:cNvPr id="15" name="before-fn">
            <a:extLst xmlns:a="http://schemas.openxmlformats.org/drawingml/2006/main">
              <a:ext uri="{FF2B5EF4-FFF2-40B4-BE49-F238E27FC236}">
                <a16:creationId xmlns:a16="http://schemas.microsoft.com/office/drawing/2014/main" id="{EBB9195E-69B5-4006-8785-68A8D1C8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005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5564B"/>
                </a:solidFill>
              </a:defRPr>
            </a:pPr>
            <a:r>
              <a:rPr sz="1050" b="1">
                <a:solidFill>
                  <a:srgbClr val="D5564B"/>
                </a:solidFill>
              </a:rPr>
              <a:t>복잡 요청 누락(FN)  96건</a:t>
            </a:r>
          </a:p>
        </p:txBody>
      </p:sp>
      <p:sp>
        <p:nvSpPr>
          <p:cNvPr id="16" name="after-label">
            <a:extLst xmlns:a="http://schemas.openxmlformats.org/drawingml/2006/main">
              <a:ext uri="{FF2B5EF4-FFF2-40B4-BE49-F238E27FC236}">
                <a16:creationId xmlns:a16="http://schemas.microsoft.com/office/drawing/2014/main" id="{E7ADD0A5-517E-4AA0-9679-1046865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83E2"/>
                </a:solidFill>
              </a:defRPr>
            </a:pPr>
            <a:r>
              <a:rPr sz="1050" b="1">
                <a:solidFill>
                  <a:srgbClr val="2483E2"/>
                </a:solidFill>
              </a:rPr>
              <a:t>AFTER</a:t>
            </a:r>
          </a:p>
        </p:txBody>
      </p:sp>
      <p:sp>
        <p:nvSpPr>
          <p:cNvPr id="17" name="after-title">
            <a:extLst xmlns:a="http://schemas.openxmlformats.org/drawingml/2006/main">
              <a:ext uri="{FF2B5EF4-FFF2-40B4-BE49-F238E27FC236}">
                <a16:creationId xmlns:a16="http://schemas.microsoft.com/office/drawing/2014/main" id="{2982395A-B8C6-425F-B9AB-123FAF3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02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3B6A"/>
                </a:solidFill>
              </a:defRPr>
            </a:pPr>
            <a:r>
              <a:rPr sz="2025" b="1">
                <a:solidFill>
                  <a:srgbClr val="0B3B6A"/>
                </a:solidFill>
              </a:rPr>
              <a:t>임베딩 결합 모델</a:t>
            </a:r>
          </a:p>
        </p:txBody>
      </p:sp>
      <p:sp>
        <p:nvSpPr>
          <p:cNvPr id="18" name="after-method">
            <a:extLst xmlns:a="http://schemas.openxmlformats.org/drawingml/2006/main">
              <a:ext uri="{FF2B5EF4-FFF2-40B4-BE49-F238E27FC236}">
                <a16:creationId xmlns:a16="http://schemas.microsoft.com/office/drawing/2014/main" id="{103CB2DF-1224-410A-9149-45778DC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6C8F"/>
                </a:solidFill>
              </a:defRPr>
            </a:pPr>
            <a:r>
              <a:rPr sz="1200">
                <a:solidFill>
                  <a:srgbClr val="4A6C8F"/>
                </a:solidFill>
              </a:rPr>
              <a:t>문장의 의미와 작업 관계를 벡터로 반영</a:t>
            </a:r>
          </a:p>
        </p:txBody>
      </p:sp>
      <p:sp>
        <p:nvSpPr>
          <p:cNvPr id="19" name="model-pipeline-box">
            <a:extLst xmlns:a="http://schemas.openxmlformats.org/drawingml/2006/main">
              <a:ext uri="{FF2B5EF4-FFF2-40B4-BE49-F238E27FC236}">
                <a16:creationId xmlns:a16="http://schemas.microsoft.com/office/drawing/2014/main" id="{B87A54BF-778F-4937-A11A-76058A84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4038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9525">
            <a:solidFill>
              <a:srgbClr val="B9DCF9"/>
            </a:solidFill>
            <a:prstDash val="solid"/>
          </a:ln>
        </p:spPr>
      </p:sp>
      <p:sp>
        <p:nvSpPr>
          <p:cNvPr id="20" name="model-pipeline">
            <a:extLst xmlns:a="http://schemas.openxmlformats.org/drawingml/2006/main">
              <a:ext uri="{FF2B5EF4-FFF2-40B4-BE49-F238E27FC236}">
                <a16:creationId xmlns:a16="http://schemas.microsoft.com/office/drawing/2014/main" id="{0ADE709B-F4BD-4B1E-8D98-3CD0A1BD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892"/>
                </a:solidFill>
              </a:defRPr>
            </a:pPr>
            <a:r>
              <a:rPr sz="1200" b="1">
                <a:solidFill>
                  <a:srgbClr val="155892"/>
                </a:solidFill>
              </a:rPr>
              <a:t>Prompt  →  E5 임베딩  →  PCA 64D</a:t>
            </a:r>
          </a:p>
          <a:p xmlns:a="http://schemas.openxmlformats.org/drawingml/2006/main">
            <a:pPr algn="ctr">
              <a:defRPr sz="1200" b="1">
                <a:solidFill>
                  <a:srgbClr val="155892"/>
                </a:solidFill>
              </a:defRPr>
            </a:pPr>
            <a:r>
              <a:rPr sz="1200" b="1">
                <a:solidFill>
                  <a:srgbClr val="155892"/>
                </a:solidFill>
              </a:rPr>
              <a:t>+ 규칙 42D  →  Logistic Regression</a:t>
            </a:r>
          </a:p>
        </p:txBody>
      </p:sp>
      <p:sp>
        <p:nvSpPr>
          <p:cNvPr id="21" name="after-result">
            <a:extLst xmlns:a="http://schemas.openxmlformats.org/drawingml/2006/main">
              <a:ext uri="{FF2B5EF4-FFF2-40B4-BE49-F238E27FC236}">
                <a16:creationId xmlns:a16="http://schemas.microsoft.com/office/drawing/2014/main" id="{D54F0F23-A3F6-4A31-8238-EA37B3F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76C7"/>
                </a:solidFill>
              </a:defRPr>
            </a:pPr>
            <a:r>
              <a:rPr sz="1125" b="1">
                <a:solidFill>
                  <a:srgbClr val="1D76C7"/>
                </a:solidFill>
              </a:rPr>
              <a:t>문맥까지 반영 → 복합 요청 정확히 식별</a:t>
            </a:r>
          </a:p>
        </p:txBody>
      </p:sp>
      <p:sp>
        <p:nvSpPr>
          <p:cNvPr id="22" name="after-accuracy">
            <a:extLst xmlns:a="http://schemas.openxmlformats.org/drawingml/2006/main">
              <a:ext uri="{FF2B5EF4-FFF2-40B4-BE49-F238E27FC236}">
                <a16:creationId xmlns:a16="http://schemas.microsoft.com/office/drawing/2014/main" id="{E86D4411-8D4A-4E28-96E3-CF3567E3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72C4"/>
                </a:solidFill>
              </a:defRPr>
            </a:pPr>
            <a:r>
              <a:rPr sz="3450" b="1">
                <a:solidFill>
                  <a:srgbClr val="1672C4"/>
                </a:solidFill>
              </a:rPr>
              <a:t>98.4%</a:t>
            </a:r>
          </a:p>
        </p:txBody>
      </p:sp>
      <p:sp>
        <p:nvSpPr>
          <p:cNvPr id="23" name="after-accuracy-label">
            <a:extLst xmlns:a="http://schemas.openxmlformats.org/drawingml/2006/main">
              <a:ext uri="{FF2B5EF4-FFF2-40B4-BE49-F238E27FC236}">
                <a16:creationId xmlns:a16="http://schemas.microsoft.com/office/drawing/2014/main" id="{1D482078-597B-4CB9-BFF4-BAF0866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A6C8F"/>
                </a:solidFill>
              </a:defRPr>
            </a:pPr>
            <a:r>
              <a:rPr sz="1200" b="1">
                <a:solidFill>
                  <a:srgbClr val="4A6C8F"/>
                </a:solidFill>
              </a:rPr>
              <a:t>난이도 분류 정확도</a:t>
            </a:r>
          </a:p>
        </p:txBody>
      </p:sp>
      <p:sp>
        <p:nvSpPr>
          <p:cNvPr id="24" name="after-fn">
            <a:extLst xmlns:a="http://schemas.openxmlformats.org/drawingml/2006/main">
              <a:ext uri="{FF2B5EF4-FFF2-40B4-BE49-F238E27FC236}">
                <a16:creationId xmlns:a16="http://schemas.microsoft.com/office/drawing/2014/main" id="{08B4BB6F-127F-4A99-A38B-987D764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00575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2C4"/>
                </a:solidFill>
              </a:defRPr>
            </a:pPr>
            <a:r>
              <a:rPr sz="1050" b="1">
                <a:solidFill>
                  <a:srgbClr val="1672C4"/>
                </a:solidFill>
              </a:rPr>
              <a:t>복잡 요청 누락(FN)  5건</a:t>
            </a:r>
          </a:p>
        </p:txBody>
      </p:sp>
      <p:sp>
        <p:nvSpPr>
          <p:cNvPr id="25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8D01FBAF-CED0-4CA7-8A67-93D7857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B9DCF9"/>
            </a:solidFill>
            <a:prstDash val="solid"/>
          </a:ln>
        </p:spPr>
      </p:sp>
      <p:sp>
        <p:nvSpPr>
          <p:cNvPr id="26" name="accuracy-lift">
            <a:extLst xmlns:a="http://schemas.openxmlformats.org/drawingml/2006/main">
              <a:ext uri="{FF2B5EF4-FFF2-40B4-BE49-F238E27FC236}">
                <a16:creationId xmlns:a16="http://schemas.microsoft.com/office/drawing/2014/main" id="{8A99F756-BE11-4E28-BCB1-B25F3E6E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6EBD"/>
                </a:solidFill>
              </a:defRPr>
            </a:pPr>
            <a:r>
              <a:rPr sz="2325" b="1">
                <a:solidFill>
                  <a:srgbClr val="0E6EBD"/>
                </a:solidFill>
              </a:rPr>
              <a:t>+13.2%p</a:t>
            </a:r>
          </a:p>
        </p:txBody>
      </p:sp>
      <p:sp>
        <p:nvSpPr>
          <p:cNvPr id="27" name="accuracy-lift-label">
            <a:extLst xmlns:a="http://schemas.openxmlformats.org/drawingml/2006/main">
              <a:ext uri="{FF2B5EF4-FFF2-40B4-BE49-F238E27FC236}">
                <a16:creationId xmlns:a16="http://schemas.microsoft.com/office/drawing/2014/main" id="{15FF7A0B-B108-4736-AE38-0840537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66A8C"/>
                </a:solidFill>
              </a:defRPr>
            </a:pPr>
            <a:r>
              <a:rPr sz="1125" b="1">
                <a:solidFill>
                  <a:srgbClr val="466A8C"/>
                </a:solidFill>
              </a:rPr>
              <a:t>정확도 향상</a:t>
            </a:r>
          </a:p>
        </p:txBody>
      </p:sp>
      <p:sp>
        <p:nvSpPr>
          <p:cNvPr id="28" name="outcome-divider-1">
            <a:extLst xmlns:a="http://schemas.openxmlformats.org/drawingml/2006/main">
              <a:ext uri="{FF2B5EF4-FFF2-40B4-BE49-F238E27FC236}">
                <a16:creationId xmlns:a16="http://schemas.microsoft.com/office/drawing/2014/main" id="{48FCCC30-0078-4D01-8D07-C86DB37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95925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D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n-improvement">
            <a:extLst xmlns:a="http://schemas.openxmlformats.org/drawingml/2006/main">
              <a:ext uri="{FF2B5EF4-FFF2-40B4-BE49-F238E27FC236}">
                <a16:creationId xmlns:a16="http://schemas.microsoft.com/office/drawing/2014/main" id="{92BCC875-9485-4874-A3F0-6852450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149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6EBD"/>
                </a:solidFill>
              </a:defRPr>
            </a:pPr>
            <a:r>
              <a:rPr sz="2100" b="1">
                <a:solidFill>
                  <a:srgbClr val="0E6EBD"/>
                </a:solidFill>
              </a:rPr>
              <a:t>96 → 5건</a:t>
            </a:r>
          </a:p>
        </p:txBody>
      </p:sp>
      <p:sp>
        <p:nvSpPr>
          <p:cNvPr id="30" name="fn-improvement-label">
            <a:extLst xmlns:a="http://schemas.openxmlformats.org/drawingml/2006/main">
              <a:ext uri="{FF2B5EF4-FFF2-40B4-BE49-F238E27FC236}">
                <a16:creationId xmlns:a16="http://schemas.microsoft.com/office/drawing/2014/main" id="{30704650-C957-4F38-8F99-B198AD38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864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66A8C"/>
                </a:solidFill>
              </a:defRPr>
            </a:pPr>
            <a:r>
              <a:rPr sz="1125" b="1">
                <a:solidFill>
                  <a:srgbClr val="466A8C"/>
                </a:solidFill>
              </a:rPr>
              <a:t>복잡 요청 누락 감소</a:t>
            </a:r>
          </a:p>
        </p:txBody>
      </p:sp>
      <p:sp>
        <p:nvSpPr>
          <p:cNvPr id="31" name="outcome-divider-2">
            <a:extLst xmlns:a="http://schemas.openxmlformats.org/drawingml/2006/main">
              <a:ext uri="{FF2B5EF4-FFF2-40B4-BE49-F238E27FC236}">
                <a16:creationId xmlns:a16="http://schemas.microsoft.com/office/drawing/2014/main" id="{5144F30F-4FE7-4020-89A7-91F0086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D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usiness-impact">
            <a:extLst xmlns:a="http://schemas.openxmlformats.org/drawingml/2006/main">
              <a:ext uri="{FF2B5EF4-FFF2-40B4-BE49-F238E27FC236}">
                <a16:creationId xmlns:a16="http://schemas.microsoft.com/office/drawing/2014/main" id="{5FBD19DA-E17F-4068-8B19-AA4D1928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864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F68"/>
                </a:solidFill>
              </a:defRPr>
            </a:pPr>
            <a:r>
              <a:rPr sz="1725" b="1">
                <a:solidFill>
                  <a:srgbClr val="123F68"/>
                </a:solidFill>
              </a:rPr>
              <a:t>고성능 모델이 필요한 요청을</a:t>
            </a:r>
          </a:p>
          <a:p xmlns:a="http://schemas.openxmlformats.org/drawingml/2006/main">
            <a:pPr>
              <a:defRPr sz="1725" b="1">
                <a:solidFill>
                  <a:srgbClr val="123F68"/>
                </a:solidFill>
              </a:defRPr>
            </a:pPr>
            <a:r>
              <a:rPr sz="1725" b="1">
                <a:solidFill>
                  <a:srgbClr val="123F68"/>
                </a:solidFill>
              </a:rPr>
              <a:t>더 정확하게 라우팅</a:t>
            </a:r>
          </a:p>
        </p:txBody>
      </p:sp>
      <p:sp>
        <p:nvSpPr>
          <p:cNvPr id="33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8843B251-8963-49ED-855E-B99F2142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58396"/>
                </a:solidFill>
              </a:defRPr>
            </a:pPr>
            <a:r>
              <a:rPr sz="900">
                <a:solidFill>
                  <a:srgbClr val="758396"/>
                </a:solidFill>
              </a:rPr>
              <a:t>※ 동일 validation 1,000건 비교 · 42D rule+LR vs. 42D+E5/PCA 64D+LR · 2026-07-16</a:t>
            </a:r>
          </a:p>
        </p:txBody>
      </p:sp>
    </p:spTree>
    <p:extLst>
      <p:ext uri="{BB962C8B-B14F-4D97-AF65-F5344CB8AC3E}">
        <p14:creationId xmlns:p14="http://schemas.microsoft.com/office/powerpoint/2010/main" val="176389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2026-07-20T20:51:59.8980000Z</dcterms:created>
  <dcterms:modified xsi:type="dcterms:W3CDTF">2026-07-20T20:51:59.8980000Z</dcterms:modified>
</coreProperties>
</file>