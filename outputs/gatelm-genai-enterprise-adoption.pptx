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f1fc26876842dd" /><Relationship Type="http://schemas.openxmlformats.org/officeDocument/2006/relationships/extended-properties" Target="/docProps/app.xml" Id="R7ae973f5719e4514" /><Relationship Type="http://schemas.openxmlformats.org/officeDocument/2006/relationships/officeDocument" Target="/ppt/presentation.xml" Id="R9280175ccf4e4c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8151130b14d86"/>
  </p:sldMasterIdLst>
  <p:notesMasterIdLst>
    <p:notesMasterId xmlns:r="http://schemas.openxmlformats.org/officeDocument/2006/relationships" r:id="R61dce7b35a70420b"/>
  </p:notesMasterIdLst>
  <p:sldIdLst>
    <p:sldId xmlns:r="http://schemas.openxmlformats.org/officeDocument/2006/relationships" id="256" r:id="R37c915aa72b94b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e41ae04ac4909" /><Relationship Type="http://schemas.openxmlformats.org/officeDocument/2006/relationships/slideMaster" Target="/ppt/slideMasters/slideMaster1.xml" Id="R18e8151130b14d86" /><Relationship Type="http://schemas.openxmlformats.org/officeDocument/2006/relationships/notesMaster" Target="/ppt/notesMasters/notesMaster1.xml" Id="R61dce7b35a70420b" /><Relationship Type="http://schemas.openxmlformats.org/officeDocument/2006/relationships/presProps" Target="/ppt/presProps.xml" Id="Re2f8ff2f7e884a8b" /><Relationship Type="http://schemas.openxmlformats.org/officeDocument/2006/relationships/tableStyles" Target="/ppt/tableStyles.xml" Id="R5343317507654762" /><Relationship Type="http://schemas.openxmlformats.org/officeDocument/2006/relationships/slide" Target="/ppt/slides/slide1.xml" Id="R37c915aa72b94b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4531bb11ad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9c46f35baa4b73" /><Relationship Type="http://schemas.openxmlformats.org/officeDocument/2006/relationships/notesMaster" Target="/ppt/notesMasters/notesMaster1.xml" Id="Re84e23c867d14d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8c8b803624a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2a55cd53a74fa0" /><Relationship Type="http://schemas.openxmlformats.org/officeDocument/2006/relationships/slideLayout" Target="/ppt/slideLayouts/slideLayout1.xml" Id="Rb0d2651f87ff4c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2651f87ff4c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f1af32acc4821" /><Relationship Type="http://schemas.openxmlformats.org/officeDocument/2006/relationships/chart" Target="/ppt/slides/charts/chart1.xml" Id="R9cb865a3ad2b4b45" /><Relationship Type="http://schemas.openxmlformats.org/officeDocument/2006/relationships/notesSlide" Target="/ppt/notesSlides/notesSlide1.xml" Id="Rc772618921a04eb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정기 활용 기업 비율</c:v>
          </c:tx>
          <c:spPr>
            <a:solidFill xmlns:a="http://schemas.openxmlformats.org/drawingml/2006/main">
              <a:srgbClr val="00E39A"/>
            </a:solidFill>
            <a:ln xmlns:a="http://schemas.openxmlformats.org/drawingml/2006/main" w="0">
              <a:noFill/>
              <a:prstDash val="solid"/>
            </a:ln>
          </c:spPr>
          <c:dPt>
            <c:idx val="0"/>
            <c:spPr>
              <a:solidFill xmlns:a="http://schemas.openxmlformats.org/drawingml/2006/main">
                <a:srgbClr val="3A91DE"/>
              </a:solidFill>
              <a:ln xmlns:a="http://schemas.openxmlformats.org/drawingml/2006/main" w="0">
                <a:solidFill>
                  <a:srgbClr val="3A91DE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13C8C2"/>
              </a:solidFill>
              <a:ln xmlns:a="http://schemas.openxmlformats.org/drawingml/2006/main" w="0">
                <a:solidFill>
                  <a:srgbClr val="13C8C2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00E39A"/>
              </a:solidFill>
              <a:ln xmlns:a="http://schemas.openxmlformats.org/drawingml/2006/main" w="0">
                <a:solidFill>
                  <a:srgbClr val="00E39A"/>
                </a:solidFill>
                <a:prstDash val="solid"/>
              </a:ln>
            </c:spPr>
          </c:dPt>
          <c:cat>
            <c:numLit>
              <c:formatCode>General</c:formatCode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numLit>
          </c:cat>
          <c:val>
            <c:numLit>
              <c:formatCode>0"%"</c:formatCode>
              <c:ptCount val="3"/>
              <c:pt idx="0">
                <c:v>33</c:v>
              </c:pt>
              <c:pt idx="1">
                <c:v>71</c:v>
              </c:pt>
              <c:pt idx="2">
                <c:v>79</c:v>
              </c:pt>
            </c:numLit>
          </c:val>
        </c:ser>
        <c:dLbls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9636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7DEE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313A"/>
              </a:solidFill>
              <a:prstDash val="solid"/>
            </a:ln>
          </c:spPr>
        </c:majorGridlines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ight-back-ribbon">
            <a:extLst xmlns:a="http://schemas.openxmlformats.org/drawingml/2006/main">
              <a:ext uri="{FF2B5EF4-FFF2-40B4-BE49-F238E27FC236}">
                <a16:creationId xmlns:a16="http://schemas.microsoft.com/office/drawing/2014/main" id="{D8780FC0-040A-455E-B2B6-F4A00AD7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0"/>
            <a:ext cx="1600200" cy="8001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87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ight-front-ribbon">
            <a:extLst xmlns:a="http://schemas.openxmlformats.org/drawingml/2006/main">
              <a:ext uri="{FF2B5EF4-FFF2-40B4-BE49-F238E27FC236}">
                <a16:creationId xmlns:a16="http://schemas.microsoft.com/office/drawing/2014/main" id="{8B3C3362-67B5-4B0A-9B7D-855F9FA5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0"/>
            <a:ext cx="1809750" cy="1066800"/>
          </a:xfrm>
          <a:prstGeom xmlns:a="http://schemas.openxmlformats.org/drawingml/2006/main" prst="parallelogram">
            <a:avLst/>
          </a:prstGeom>
          <a:gradFill xmlns:a="http://schemas.openxmlformats.org/drawingml/2006/main">
            <a:gsLst>
              <a:gs pos="0">
                <a:srgbClr val="00E39A"/>
              </a:gs>
              <a:gs pos="100000">
                <a:srgbClr val="11C5D8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bottom-left-back-ribbon">
            <a:extLst xmlns:a="http://schemas.openxmlformats.org/drawingml/2006/main">
              <a:ext uri="{FF2B5EF4-FFF2-40B4-BE49-F238E27FC236}">
                <a16:creationId xmlns:a16="http://schemas.microsoft.com/office/drawing/2014/main" id="{690E2738-C62F-4846-92B9-80C23FB8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914400" cy="6858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87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left-front-ribbon">
            <a:extLst xmlns:a="http://schemas.openxmlformats.org/drawingml/2006/main">
              <a:ext uri="{FF2B5EF4-FFF2-40B4-BE49-F238E27FC236}">
                <a16:creationId xmlns:a16="http://schemas.microsoft.com/office/drawing/2014/main" id="{EFA9D674-D2FE-46E1-9EDF-1E09C914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81750"/>
            <a:ext cx="628650" cy="4762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1C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outline">
            <a:extLst xmlns:a="http://schemas.openxmlformats.org/drawingml/2006/main">
              <a:ext uri="{FF2B5EF4-FFF2-40B4-BE49-F238E27FC236}">
                <a16:creationId xmlns:a16="http://schemas.microsoft.com/office/drawing/2014/main" id="{A30D188E-CFCB-4E9B-9AB8-DD7E6D9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7953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C5D8"/>
            </a:solidFill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00F4C3-1F56-423A-A2E6-60AC8889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기업의 생성형 AI 업무 활용률</a:t>
            </a:r>
          </a:p>
        </p:txBody>
      </p:sp>
      <p:sp>
        <p:nvSpPr>
          <p:cNvPr id="7" name="chart-definition">
            <a:extLst xmlns:a="http://schemas.openxmlformats.org/drawingml/2006/main">
              <a:ext uri="{FF2B5EF4-FFF2-40B4-BE49-F238E27FC236}">
                <a16:creationId xmlns:a16="http://schemas.microsoft.com/office/drawing/2014/main" id="{EF200644-CB5B-496A-8FB3-E7D9E11D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4C0"/>
                </a:solidFill>
              </a:defRPr>
            </a:pPr>
            <a:r>
              <a:rPr sz="1275">
                <a:solidFill>
                  <a:srgbClr val="A9B4C0"/>
                </a:solidFill>
              </a:rPr>
              <a:t>최소 한 개 이상의 업무 기능에서 생성형 AI를 정기적으로 활용한다고 응답한 기업 비율</a:t>
            </a:r>
          </a:p>
        </p:txBody>
      </p:sp>
      <p:sp>
        <p:nvSpPr>
          <p:cNvPr id="8" name="chart-unit">
            <a:extLst xmlns:a="http://schemas.openxmlformats.org/drawingml/2006/main">
              <a:ext uri="{FF2B5EF4-FFF2-40B4-BE49-F238E27FC236}">
                <a16:creationId xmlns:a16="http://schemas.microsoft.com/office/drawing/2014/main" id="{5511FEEF-1D6E-4A21-87E5-A929832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F8C97"/>
                </a:solidFill>
              </a:defRPr>
            </a:pPr>
            <a:r>
              <a:rPr sz="1050">
                <a:solidFill>
                  <a:srgbClr val="7F8C97"/>
                </a:solidFill>
              </a:rPr>
              <a:t>단위: %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04850" y="1724025"/>
          <a:ext xmlns:a="http://schemas.openxmlformats.org/drawingml/2006/main" cx="7286625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b865a3ad2b4b45"/>
          </a:graphicData>
        </a:graphic>
      </p:graphicFrame>
      <p:sp>
        <p:nvSpPr>
          <p:cNvPr id="10" name="bar-label-2023">
            <a:extLst xmlns:a="http://schemas.openxmlformats.org/drawingml/2006/main">
              <a:ext uri="{FF2B5EF4-FFF2-40B4-BE49-F238E27FC236}">
                <a16:creationId xmlns:a16="http://schemas.microsoft.com/office/drawing/2014/main" id="{2D5EB6FE-E616-4CC9-805E-F5FCC777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052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33%</a:t>
            </a:r>
          </a:p>
        </p:txBody>
      </p:sp>
      <p:sp>
        <p:nvSpPr>
          <p:cNvPr id="11" name="bar-label-2024">
            <a:extLst xmlns:a="http://schemas.openxmlformats.org/drawingml/2006/main">
              <a:ext uri="{FF2B5EF4-FFF2-40B4-BE49-F238E27FC236}">
                <a16:creationId xmlns:a16="http://schemas.microsoft.com/office/drawing/2014/main" id="{30268109-C7D2-4721-889E-083F69A6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71%</a:t>
            </a:r>
          </a:p>
        </p:txBody>
      </p:sp>
      <p:sp>
        <p:nvSpPr>
          <p:cNvPr id="12" name="bar-label-2025">
            <a:extLst xmlns:a="http://schemas.openxmlformats.org/drawingml/2006/main">
              <a:ext uri="{FF2B5EF4-FFF2-40B4-BE49-F238E27FC236}">
                <a16:creationId xmlns:a16="http://schemas.microsoft.com/office/drawing/2014/main" id="{5EF24B72-D0D5-445D-AD8E-7F9456E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03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79%</a:t>
            </a:r>
          </a:p>
        </p:txBody>
      </p:sp>
      <p:sp>
        <p:nvSpPr>
          <p:cNvPr id="13" name="callout-rule">
            <a:extLst xmlns:a="http://schemas.openxmlformats.org/drawingml/2006/main">
              <a:ext uri="{FF2B5EF4-FFF2-40B4-BE49-F238E27FC236}">
                <a16:creationId xmlns:a16="http://schemas.microsoft.com/office/drawing/2014/main" id="{936D5E9A-1551-4C94-B38B-443AA1C7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19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kicker">
            <a:extLst xmlns:a="http://schemas.openxmlformats.org/drawingml/2006/main">
              <a:ext uri="{FF2B5EF4-FFF2-40B4-BE49-F238E27FC236}">
                <a16:creationId xmlns:a16="http://schemas.microsoft.com/office/drawing/2014/main" id="{A3AD2908-9347-4569-828E-7D1C1E1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E39A"/>
                </a:solidFill>
              </a:defRPr>
            </a:pPr>
            <a:r>
              <a:rPr sz="1650" b="1">
                <a:solidFill>
                  <a:srgbClr val="00E39A"/>
                </a:solidFill>
              </a:rPr>
              <a:t>2년 만에</a:t>
            </a:r>
          </a:p>
        </p:txBody>
      </p:sp>
      <p:sp>
        <p:nvSpPr>
          <p:cNvPr id="15" name="callout-start">
            <a:extLst xmlns:a="http://schemas.openxmlformats.org/drawingml/2006/main">
              <a:ext uri="{FF2B5EF4-FFF2-40B4-BE49-F238E27FC236}">
                <a16:creationId xmlns:a16="http://schemas.microsoft.com/office/drawing/2014/main" id="{293A2117-6DE2-4BFC-A51A-E28772EE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A91DE"/>
                </a:solidFill>
              </a:defRPr>
            </a:pPr>
            <a:r>
              <a:rPr sz="4050" b="1">
                <a:solidFill>
                  <a:srgbClr val="3A91DE"/>
                </a:solidFill>
              </a:rPr>
              <a:t>33%</a:t>
            </a:r>
          </a:p>
        </p:txBody>
      </p:sp>
      <p:sp>
        <p:nvSpPr>
          <p:cNvPr id="16" name="callout-arrow">
            <a:extLst xmlns:a="http://schemas.openxmlformats.org/drawingml/2006/main">
              <a:ext uri="{FF2B5EF4-FFF2-40B4-BE49-F238E27FC236}">
                <a16:creationId xmlns:a16="http://schemas.microsoft.com/office/drawing/2014/main" id="{5445A90A-0B12-4B07-9718-E078FF0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28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callout-end">
            <a:extLst xmlns:a="http://schemas.openxmlformats.org/drawingml/2006/main">
              <a:ext uri="{FF2B5EF4-FFF2-40B4-BE49-F238E27FC236}">
                <a16:creationId xmlns:a16="http://schemas.microsoft.com/office/drawing/2014/main" id="{991E9D18-A8CF-4136-865E-8E89534B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43175"/>
            <a:ext cx="1285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E39A"/>
                </a:solidFill>
              </a:defRPr>
            </a:pPr>
            <a:r>
              <a:rPr sz="4050" b="1">
                <a:solidFill>
                  <a:srgbClr val="00E39A"/>
                </a:solidFill>
              </a:rPr>
              <a:t>79%</a:t>
            </a:r>
          </a:p>
        </p:txBody>
      </p:sp>
      <p:sp>
        <p:nvSpPr>
          <p:cNvPr id="18" name="callout-change">
            <a:extLst xmlns:a="http://schemas.openxmlformats.org/drawingml/2006/main">
              <a:ext uri="{FF2B5EF4-FFF2-40B4-BE49-F238E27FC236}">
                <a16:creationId xmlns:a16="http://schemas.microsoft.com/office/drawing/2014/main" id="{FEF46C14-B28A-4655-ABB2-0A75943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04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46%p 증가</a:t>
            </a:r>
          </a:p>
        </p:txBody>
      </p:sp>
      <p:sp>
        <p:nvSpPr>
          <p:cNvPr id="19" name="callout-caption">
            <a:extLst xmlns:a="http://schemas.openxmlformats.org/drawingml/2006/main">
              <a:ext uri="{FF2B5EF4-FFF2-40B4-BE49-F238E27FC236}">
                <a16:creationId xmlns:a16="http://schemas.microsoft.com/office/drawing/2014/main" id="{AF5BC44B-6CE8-4C29-ABB1-72ED7836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29075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BD3DA"/>
                </a:solidFill>
              </a:defRPr>
            </a:pPr>
            <a:r>
              <a:rPr sz="1350">
                <a:solidFill>
                  <a:srgbClr val="CBD3DA"/>
                </a:solidFill>
              </a:rPr>
              <a:t>생성형 AI가 실험 단계를 넘어</a:t>
            </a:r>
          </a:p>
          <a:p xmlns:a="http://schemas.openxmlformats.org/drawingml/2006/main">
            <a:pPr>
              <a:defRPr sz="1350">
                <a:solidFill>
                  <a:srgbClr val="CBD3DA"/>
                </a:solidFill>
              </a:defRPr>
            </a:pPr>
            <a:r>
              <a:rPr sz="1350">
                <a:solidFill>
                  <a:srgbClr val="CBD3DA"/>
                </a:solidFill>
              </a:rPr>
              <a:t>실제 업무 운영으로 이동하고 있습니다.</a:t>
            </a:r>
          </a:p>
        </p:txBody>
      </p:sp>
      <p:sp>
        <p:nvSpPr>
          <p:cNvPr id="20" name="takeaway-rail">
            <a:extLst xmlns:a="http://schemas.openxmlformats.org/drawingml/2006/main">
              <a:ext uri="{FF2B5EF4-FFF2-40B4-BE49-F238E27FC236}">
                <a16:creationId xmlns:a16="http://schemas.microsoft.com/office/drawing/2014/main" id="{29048F55-0E9A-4EA8-8E0A-5DC57369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15025"/>
            <a:ext cx="8382000" cy="5905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00D8A2"/>
              </a:gs>
              <a:gs pos="55000">
                <a:srgbClr val="00E39A"/>
              </a:gs>
              <a:gs pos="100000">
                <a:srgbClr val="10D6C8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81513964-D36D-4935-8C42-0D3C4518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293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생성형 AI는 실험을 넘어 실제 기업 업무로 빠르게 확산되고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04913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2026-07-17T06:34:08.9630000Z</dcterms:created>
  <dcterms:modified xsi:type="dcterms:W3CDTF">2026-07-17T06:34:08.9630000Z</dcterms:modified>
</coreProperties>
</file>