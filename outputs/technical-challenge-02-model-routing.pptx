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60f7f3058c4b96" /><Relationship Type="http://schemas.openxmlformats.org/officeDocument/2006/relationships/extended-properties" Target="/docProps/app.xml" Id="Rabf5fc6a0f214ce5" /><Relationship Type="http://schemas.openxmlformats.org/officeDocument/2006/relationships/officeDocument" Target="/ppt/presentation.xml" Id="R33ad9b6a57e142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9dd477f1cc4e0c"/>
  </p:sldMasterIdLst>
  <p:notesMasterIdLst>
    <p:notesMasterId xmlns:r="http://schemas.openxmlformats.org/officeDocument/2006/relationships" r:id="R6e283c2d9fdc4a8b"/>
  </p:notesMasterIdLst>
  <p:sldIdLst>
    <p:sldId xmlns:r="http://schemas.openxmlformats.org/officeDocument/2006/relationships" id="256" r:id="Re90562a91f1d4c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f786d983914f89" /><Relationship Type="http://schemas.openxmlformats.org/officeDocument/2006/relationships/slideMaster" Target="/ppt/slideMasters/slideMaster1.xml" Id="R699dd477f1cc4e0c" /><Relationship Type="http://schemas.openxmlformats.org/officeDocument/2006/relationships/notesMaster" Target="/ppt/notesMasters/notesMaster1.xml" Id="R6e283c2d9fdc4a8b" /><Relationship Type="http://schemas.openxmlformats.org/officeDocument/2006/relationships/presProps" Target="/ppt/presProps.xml" Id="R3114dcdc458d48a5" /><Relationship Type="http://schemas.openxmlformats.org/officeDocument/2006/relationships/tableStyles" Target="/ppt/tableStyles.xml" Id="R4c5f789e268642f0" /><Relationship Type="http://schemas.openxmlformats.org/officeDocument/2006/relationships/slide" Target="/ppt/slides/slide1.xml" Id="Re90562a91f1d4c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05aca3192349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cd949e6ce943f0" /><Relationship Type="http://schemas.openxmlformats.org/officeDocument/2006/relationships/notesMaster" Target="/ppt/notesMasters/notesMaster1.xml" Id="R9aa3bde60f3745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a773291d64b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b8556a5eda48a5" /><Relationship Type="http://schemas.openxmlformats.org/officeDocument/2006/relationships/slideLayout" Target="/ppt/slideLayouts/slideLayout1.xml" Id="Rde236ec0432f4d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236ec0432f4d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d310d9c784b6e" /><Relationship Type="http://schemas.openxmlformats.org/officeDocument/2006/relationships/image" Target="/ppt/media/image.png" Id="R03d6601aceac49b6" /><Relationship Type="http://schemas.openxmlformats.org/officeDocument/2006/relationships/image" Target="/ppt/media/image2.png" Id="Rfba220f4d4c14ca6" /><Relationship Type="http://schemas.openxmlformats.org/officeDocument/2006/relationships/image" Target="/ppt/media/image.svg" Id="R58109ad598a44fb1" /><Relationship Type="http://schemas.openxmlformats.org/officeDocument/2006/relationships/image" Target="/ppt/media/image3.png" Id="Rd80ed856239c4d2e" /><Relationship Type="http://schemas.openxmlformats.org/officeDocument/2006/relationships/image" Target="/ppt/media/image2.svg" Id="Rdb969189616344dd" /><Relationship Type="http://schemas.openxmlformats.org/officeDocument/2006/relationships/image" Target="/ppt/media/image4.png" Id="R3c1bcbc93c9d4402" /><Relationship Type="http://schemas.openxmlformats.org/officeDocument/2006/relationships/image" Target="/ppt/media/image3.svg" Id="R708e1bcb43b7409d" /><Relationship Type="http://schemas.openxmlformats.org/officeDocument/2006/relationships/image" Target="/ppt/media/image5.png" Id="R0700e06eabc8437e" /><Relationship Type="http://schemas.openxmlformats.org/officeDocument/2006/relationships/image" Target="/ppt/media/image4.svg" Id="R8e7b75e87359451f" /><Relationship Type="http://schemas.openxmlformats.org/officeDocument/2006/relationships/notesSlide" Target="/ppt/notesSlides/notesSlide1.xml" Id="R9c68b8fcec6c4c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8E7E28-667D-44EA-AC2C-62A11C34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llenge-title">
            <a:extLst xmlns:a="http://schemas.openxmlformats.org/drawingml/2006/main">
              <a:ext uri="{FF2B5EF4-FFF2-40B4-BE49-F238E27FC236}">
                <a16:creationId xmlns:a16="http://schemas.microsoft.com/office/drawing/2014/main" id="{EA4F1064-70B8-405A-A0F5-CDE8390A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310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기술적 챌린지 02: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3A1343-89BE-41D3-A39B-4A516DA2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95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11827"/>
                </a:solidFill>
              </a:defRPr>
            </a:pPr>
            <a:r>
              <a:rPr sz="2850">
                <a:solidFill>
                  <a:srgbClr val="111827"/>
                </a:solidFill>
              </a:rPr>
              <a:t>모델 라우팅 구현</a:t>
            </a:r>
          </a:p>
        </p:txBody>
      </p:sp>
      <p:sp>
        <p:nvSpPr>
          <p:cNvPr id="4" name="header-kicker">
            <a:extLst xmlns:a="http://schemas.openxmlformats.org/drawingml/2006/main">
              <a:ext uri="{FF2B5EF4-FFF2-40B4-BE49-F238E27FC236}">
                <a16:creationId xmlns:a16="http://schemas.microsoft.com/office/drawing/2014/main" id="{6F4B7370-DF9C-4A6D-9A8F-CBCFF127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24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8190A4"/>
                </a:solidFill>
              </a:defRPr>
            </a:pPr>
            <a:r>
              <a:rPr sz="938" b="1">
                <a:solidFill>
                  <a:srgbClr val="8190A4"/>
                </a:solidFill>
              </a:rPr>
              <a:t>TECHNICAL CHALLENGE · MODEL ROUTING</a:t>
            </a:r>
          </a:p>
        </p:txBody>
      </p:sp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143179A8-0650-4FC8-95BD-46F001C5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76325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13E"/>
                </a:solidFill>
              </a:defRPr>
            </a:pPr>
            <a:r>
              <a:rPr sz="1875" b="1">
                <a:solidFill>
                  <a:srgbClr val="10213E"/>
                </a:solidFill>
              </a:rPr>
              <a:t>규칙 매칭을 넘어, 요청의 의미를 학습해 최적 모델을 선택</a:t>
            </a:r>
          </a:p>
        </p:txBody>
      </p:sp>
      <p:sp>
        <p:nvSpPr>
          <p:cNvPr id="6" name="evolution-kicker">
            <a:extLst xmlns:a="http://schemas.openxmlformats.org/drawingml/2006/main">
              <a:ext uri="{FF2B5EF4-FFF2-40B4-BE49-F238E27FC236}">
                <a16:creationId xmlns:a16="http://schemas.microsoft.com/office/drawing/2014/main" id="{81C73C28-E24E-441F-B14D-BA6BBAE0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677E8"/>
                </a:solidFill>
              </a:defRPr>
            </a:pPr>
            <a:r>
              <a:rPr sz="938" b="1">
                <a:solidFill>
                  <a:srgbClr val="1677E8"/>
                </a:solidFill>
              </a:rPr>
              <a:t>ROUTING EVOLUTION</a:t>
            </a:r>
          </a:p>
        </p:txBody>
      </p:sp>
      <p:sp>
        <p:nvSpPr>
          <p:cNvPr id="7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4B58871B-3FD6-44C1-92D8-907147A4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996A8"/>
                </a:solidFill>
              </a:defRPr>
            </a:pPr>
            <a:r>
              <a:rPr sz="975" b="1">
                <a:solidFill>
                  <a:srgbClr val="8996A8"/>
                </a:solidFill>
              </a:rPr>
              <a:t>BEFORE</a:t>
            </a:r>
          </a:p>
        </p:txBody>
      </p:sp>
      <p:sp>
        <p:nvSpPr>
          <p:cNvPr id="8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74404C8B-5978-4BDB-A753-25AA23D0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E6B7C"/>
                </a:solidFill>
              </a:defRPr>
            </a:pPr>
            <a:r>
              <a:rPr sz="1800" b="1">
                <a:solidFill>
                  <a:srgbClr val="5E6B7C"/>
                </a:solidFill>
              </a:rPr>
              <a:t>규칙 기반 라우팅</a:t>
            </a:r>
          </a:p>
        </p:txBody>
      </p:sp>
      <p:sp>
        <p:nvSpPr>
          <p:cNvPr id="9" name="before-body">
            <a:extLst xmlns:a="http://schemas.openxmlformats.org/drawingml/2006/main">
              <a:ext uri="{FF2B5EF4-FFF2-40B4-BE49-F238E27FC236}">
                <a16:creationId xmlns:a16="http://schemas.microsoft.com/office/drawing/2014/main" id="{DE95332A-2B56-4607-9A96-9C062042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7B8797"/>
                </a:solidFill>
              </a:defRPr>
            </a:pPr>
            <a:r>
              <a:rPr sz="1238">
                <a:solidFill>
                  <a:srgbClr val="7B8797"/>
                </a:solidFill>
              </a:rPr>
              <a:t>IF–THEN 조건을 계속 추가하는 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8D9A5-5199-47EF-B862-5BD270C6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242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3644A-924C-4FCD-BCD9-0460460C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384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mbedding-label">
            <a:extLst xmlns:a="http://schemas.openxmlformats.org/drawingml/2006/main">
              <a:ext uri="{FF2B5EF4-FFF2-40B4-BE49-F238E27FC236}">
                <a16:creationId xmlns:a16="http://schemas.microsoft.com/office/drawing/2014/main" id="{CC6C127C-BA61-415C-90E6-A7577813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01942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677E8"/>
                </a:solidFill>
              </a:defRPr>
            </a:pPr>
            <a:r>
              <a:rPr sz="938" b="1">
                <a:solidFill>
                  <a:srgbClr val="1677E8"/>
                </a:solidFill>
              </a:rPr>
              <a:t>EMBEDDING</a:t>
            </a:r>
          </a:p>
        </p:txBody>
      </p:sp>
      <p:sp>
        <p:nvSpPr>
          <p:cNvPr id="13" name="now-label">
            <a:extLst xmlns:a="http://schemas.openxmlformats.org/drawingml/2006/main">
              <a:ext uri="{FF2B5EF4-FFF2-40B4-BE49-F238E27FC236}">
                <a16:creationId xmlns:a16="http://schemas.microsoft.com/office/drawing/2014/main" id="{B744FE90-FE7C-4FE1-ACA0-4060910E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D6C5"/>
                </a:solidFill>
              </a:defRPr>
            </a:pPr>
            <a:r>
              <a:rPr sz="975" b="1">
                <a:solidFill>
                  <a:srgbClr val="37D6C5"/>
                </a:solidFill>
              </a:rPr>
              <a:t>NOW</a:t>
            </a:r>
          </a:p>
        </p:txBody>
      </p:sp>
      <p:sp>
        <p:nvSpPr>
          <p:cNvPr id="14" name="now-title">
            <a:extLst xmlns:a="http://schemas.openxmlformats.org/drawingml/2006/main">
              <a:ext uri="{FF2B5EF4-FFF2-40B4-BE49-F238E27FC236}">
                <a16:creationId xmlns:a16="http://schemas.microsoft.com/office/drawing/2014/main" id="{A89E3C9B-0D7A-4D14-9703-698C29BA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13E"/>
                </a:solidFill>
              </a:defRPr>
            </a:pPr>
            <a:r>
              <a:rPr sz="2325" b="1">
                <a:solidFill>
                  <a:srgbClr val="10213E"/>
                </a:solidFill>
              </a:rPr>
              <a:t>의미를 학습하는</a:t>
            </a:r>
          </a:p>
          <a:p xmlns:a="http://schemas.openxmlformats.org/drawingml/2006/main">
            <a:pPr>
              <a:defRPr sz="2325" b="1">
                <a:solidFill>
                  <a:srgbClr val="10213E"/>
                </a:solidFill>
              </a:defRPr>
            </a:pPr>
            <a:r>
              <a:rPr sz="2325" b="1">
                <a:solidFill>
                  <a:srgbClr val="10213E"/>
                </a:solidFill>
              </a:rPr>
              <a:t>ML 모델 라우터</a:t>
            </a:r>
          </a:p>
        </p:txBody>
      </p:sp>
      <p:sp>
        <p:nvSpPr>
          <p:cNvPr id="15" name="now-body">
            <a:extLst xmlns:a="http://schemas.openxmlformats.org/drawingml/2006/main">
              <a:ext uri="{FF2B5EF4-FFF2-40B4-BE49-F238E27FC236}">
                <a16:creationId xmlns:a16="http://schemas.microsoft.com/office/drawing/2014/main" id="{C3D83A4A-3D80-46A8-957C-7F136A2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5E6B7C"/>
                </a:solidFill>
              </a:defRPr>
            </a:pPr>
            <a:r>
              <a:rPr sz="1238">
                <a:solidFill>
                  <a:srgbClr val="5E6B7C"/>
                </a:solidFill>
              </a:rPr>
              <a:t>요청 임베딩 → 후보 모델 분류 → 최적 경로 선택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6601aceac49b6"/>
          <a:stretch xmlns:a="http://schemas.openxmlformats.org/drawingml/2006/main"/>
        </p:blipFill>
        <p:spPr>
          <a:xfrm xmlns:a="http://schemas.openxmlformats.org/drawingml/2006/main">
            <a:off x="5900738" y="1485900"/>
            <a:ext cx="5114925" cy="3409950"/>
          </a:xfrm>
          <a:prstGeom xmlns:a="http://schemas.openxmlformats.org/drawingml/2006/main" prst="roundRect">
            <a:avLst>
              <a:gd name="adj" fmla="val 614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2FBF6-400B-4318-8EE1-9ED51F0A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C"/>
            </a:solidFill>
            <a:prstDash val="solid"/>
          </a:ln>
        </p:spPr>
      </p:sp>
      <p:sp>
        <p:nvSpPr>
          <p:cNvPr id="18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AFC2EF1D-1BD4-49A2-9153-CD983B5F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13E"/>
                </a:solidFill>
              </a:defRPr>
            </a:pPr>
            <a:r>
              <a:rPr sz="1800" b="1">
                <a:solidFill>
                  <a:srgbClr val="10213E"/>
                </a:solidFill>
              </a:rPr>
              <a:t>모델 개발 과정</a:t>
            </a:r>
          </a:p>
        </p:txBody>
      </p:sp>
      <p:sp>
        <p:nvSpPr>
          <p:cNvPr id="19" name="process-kicker">
            <a:extLst xmlns:a="http://schemas.openxmlformats.org/drawingml/2006/main">
              <a:ext uri="{FF2B5EF4-FFF2-40B4-BE49-F238E27FC236}">
                <a16:creationId xmlns:a16="http://schemas.microsoft.com/office/drawing/2014/main" id="{8E364A5B-1EA5-4ECE-BF63-7318FA4F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768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93A0B1"/>
                </a:solidFill>
              </a:defRPr>
            </a:pPr>
            <a:r>
              <a:rPr sz="863" b="1">
                <a:solidFill>
                  <a:srgbClr val="93A0B1"/>
                </a:solidFill>
              </a:rPr>
              <a:t>DATA → EXPERIMENT → SELECT → IMPROVE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842C7-1182-47FE-9401-7BF743F6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53075"/>
            <a:ext cx="862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7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706CE-855B-456B-A3B8-7F79BC96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5530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7D6C5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2D767-24B9-42D1-BBE9-1708DB49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220f4d4c14ca6">
            <a:extLst>
              <a:ext uri="{96DAC541-7B7A-43D3-8B79-37D633B846F1}">
                <asvg:svgBlip xmlns:asvg="http://schemas.microsoft.com/office/drawing/2016/SVG/main" r:embed="R58109ad598a44f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8225" y="5438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데이터 구축-title">
            <a:extLst xmlns:a="http://schemas.openxmlformats.org/drawingml/2006/main">
              <a:ext uri="{FF2B5EF4-FFF2-40B4-BE49-F238E27FC236}">
                <a16:creationId xmlns:a16="http://schemas.microsoft.com/office/drawing/2014/main" id="{A0CC9A19-B170-4012-86E7-AC2FC656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9597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13E"/>
                </a:solidFill>
              </a:defRPr>
            </a:pPr>
            <a:r>
              <a:rPr sz="1800" b="1">
                <a:solidFill>
                  <a:srgbClr val="10213E"/>
                </a:solidFill>
              </a:rPr>
              <a:t>데이터 구축</a:t>
            </a:r>
          </a:p>
        </p:txBody>
      </p:sp>
      <p:sp>
        <p:nvSpPr>
          <p:cNvPr id="25" name="데이터 구축-body">
            <a:extLst xmlns:a="http://schemas.openxmlformats.org/drawingml/2006/main">
              <a:ext uri="{FF2B5EF4-FFF2-40B4-BE49-F238E27FC236}">
                <a16:creationId xmlns:a16="http://schemas.microsoft.com/office/drawing/2014/main" id="{66F40F21-4280-471B-BD09-B811FD32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00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B7C"/>
                </a:solidFill>
              </a:defRPr>
            </a:pPr>
            <a:r>
              <a:rPr sz="1200">
                <a:solidFill>
                  <a:srgbClr val="5E6B7C"/>
                </a:solidFill>
              </a:rPr>
              <a:t>수집 · 라벨링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520E1D-5644-47E9-BE01-A70112DF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314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ed856239c4d2e">
            <a:extLst>
              <a:ext uri="{96DAC541-7B7A-43D3-8B79-37D633B846F1}">
                <asvg:svgBlip xmlns:asvg="http://schemas.microsoft.com/office/drawing/2016/SVG/main" r:embed="Rdb969189616344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71900" y="5438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후보 모델 실험-title">
            <a:extLst xmlns:a="http://schemas.openxmlformats.org/drawingml/2006/main">
              <a:ext uri="{FF2B5EF4-FFF2-40B4-BE49-F238E27FC236}">
                <a16:creationId xmlns:a16="http://schemas.microsoft.com/office/drawing/2014/main" id="{42B543E1-12C6-48B1-BA48-64BF7187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8959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13E"/>
                </a:solidFill>
              </a:defRPr>
            </a:pPr>
            <a:r>
              <a:rPr sz="1800" b="1">
                <a:solidFill>
                  <a:srgbClr val="10213E"/>
                </a:solidFill>
              </a:rPr>
              <a:t>후보 모델 실험</a:t>
            </a:r>
          </a:p>
        </p:txBody>
      </p:sp>
      <p:sp>
        <p:nvSpPr>
          <p:cNvPr id="29" name="후보 모델 실험-body">
            <a:extLst xmlns:a="http://schemas.openxmlformats.org/drawingml/2006/main">
              <a:ext uri="{FF2B5EF4-FFF2-40B4-BE49-F238E27FC236}">
                <a16:creationId xmlns:a16="http://schemas.microsoft.com/office/drawing/2014/main" id="{1E3E8114-9278-4827-9764-3AD7A152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007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B7C"/>
                </a:solidFill>
              </a:defRPr>
            </a:pPr>
            <a:r>
              <a:rPr sz="1200">
                <a:solidFill>
                  <a:srgbClr val="5E6B7C"/>
                </a:solidFill>
              </a:rPr>
              <a:t>LR · LightGBM · RBF SVM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0E886-7BC0-4573-9792-CCFF9F43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14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bcbc93c9d4402">
            <a:extLst>
              <a:ext uri="{96DAC541-7B7A-43D3-8B79-37D633B846F1}">
                <asvg:svgBlip xmlns:asvg="http://schemas.microsoft.com/office/drawing/2016/SVG/main" r:embed="R708e1bcb43b740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53225" y="5438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성능 비교·선정-title">
            <a:extLst xmlns:a="http://schemas.openxmlformats.org/drawingml/2006/main">
              <a:ext uri="{FF2B5EF4-FFF2-40B4-BE49-F238E27FC236}">
                <a16:creationId xmlns:a16="http://schemas.microsoft.com/office/drawing/2014/main" id="{34090294-91D3-42B2-AD1C-F49625CD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8959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13E"/>
                </a:solidFill>
              </a:defRPr>
            </a:pPr>
            <a:r>
              <a:rPr sz="1800" b="1">
                <a:solidFill>
                  <a:srgbClr val="10213E"/>
                </a:solidFill>
              </a:rPr>
              <a:t>성능 비교·선정</a:t>
            </a:r>
          </a:p>
        </p:txBody>
      </p:sp>
      <p:sp>
        <p:nvSpPr>
          <p:cNvPr id="33" name="성능 비교·선정-body">
            <a:extLst xmlns:a="http://schemas.openxmlformats.org/drawingml/2006/main">
              <a:ext uri="{FF2B5EF4-FFF2-40B4-BE49-F238E27FC236}">
                <a16:creationId xmlns:a16="http://schemas.microsoft.com/office/drawing/2014/main" id="{59786030-FCAF-4065-BF53-D86BECAB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2007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B7C"/>
                </a:solidFill>
              </a:defRPr>
            </a:pPr>
            <a:r>
              <a:rPr sz="1200">
                <a:solidFill>
                  <a:srgbClr val="5E6B7C"/>
                </a:solidFill>
              </a:rPr>
              <a:t>분류 성능으로 우수 모델 선정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508F1-8A0B-43D1-BA0D-4860B400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314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D6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0e06eabc8437e">
            <a:extLst>
              <a:ext uri="{96DAC541-7B7A-43D3-8B79-37D633B846F1}">
                <asvg:svgBlip xmlns:asvg="http://schemas.microsoft.com/office/drawing/2016/SVG/main" r:embed="R8e7b75e8735945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82175" y="5438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6" name="지속 개선-title">
            <a:extLst xmlns:a="http://schemas.openxmlformats.org/drawingml/2006/main">
              <a:ext uri="{FF2B5EF4-FFF2-40B4-BE49-F238E27FC236}">
                <a16:creationId xmlns:a16="http://schemas.microsoft.com/office/drawing/2014/main" id="{D8FCB061-23E9-4E3C-B255-E9CFE35A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9597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13E"/>
                </a:solidFill>
              </a:defRPr>
            </a:pPr>
            <a:r>
              <a:rPr sz="1800" b="1">
                <a:solidFill>
                  <a:srgbClr val="10213E"/>
                </a:solidFill>
              </a:rPr>
              <a:t>지속 개선</a:t>
            </a:r>
          </a:p>
        </p:txBody>
      </p:sp>
      <p:sp>
        <p:nvSpPr>
          <p:cNvPr id="37" name="지속 개선-body">
            <a:extLst xmlns:a="http://schemas.openxmlformats.org/drawingml/2006/main">
              <a:ext uri="{FF2B5EF4-FFF2-40B4-BE49-F238E27FC236}">
                <a16:creationId xmlns:a16="http://schemas.microsoft.com/office/drawing/2014/main" id="{A8561389-1A2E-4091-854D-58BA4B98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00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B7C"/>
                </a:solidFill>
              </a:defRPr>
            </a:pPr>
            <a:r>
              <a:rPr sz="1200">
                <a:solidFill>
                  <a:srgbClr val="5E6B7C"/>
                </a:solidFill>
              </a:rPr>
              <a:t>새 데이터로 반복 학습</a:t>
            </a:r>
          </a:p>
        </p:txBody>
      </p:sp>
    </p:spTree>
    <p:extLst>
      <p:ext uri="{BB962C8B-B14F-4D97-AF65-F5344CB8AC3E}">
        <p14:creationId xmlns:p14="http://schemas.microsoft.com/office/powerpoint/2010/main" val="947718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2026-07-21T18:10:19.1800000Z</dcterms:created>
  <dcterms:modified xsi:type="dcterms:W3CDTF">2026-07-21T18:10:19.1810000Z</dcterms:modified>
</coreProperties>
</file>