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06214af7c041af" /><Relationship Type="http://schemas.openxmlformats.org/officeDocument/2006/relationships/extended-properties" Target="/docProps/app.xml" Id="Rdc50bcbf03494809" /><Relationship Type="http://schemas.openxmlformats.org/officeDocument/2006/relationships/officeDocument" Target="/ppt/presentation.xml" Id="Rbd1f2de1aafd4a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ba458dbf7e4fb0"/>
  </p:sldMasterIdLst>
  <p:notesMasterIdLst>
    <p:notesMasterId xmlns:r="http://schemas.openxmlformats.org/officeDocument/2006/relationships" r:id="R718d490c7ae54d97"/>
  </p:notesMasterIdLst>
  <p:sldIdLst>
    <p:sldId xmlns:r="http://schemas.openxmlformats.org/officeDocument/2006/relationships" id="256" r:id="Rbf1a16d6b5dd41d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a86c74b27e44df" /><Relationship Type="http://schemas.openxmlformats.org/officeDocument/2006/relationships/slideMaster" Target="/ppt/slideMasters/slideMaster1.xml" Id="R14ba458dbf7e4fb0" /><Relationship Type="http://schemas.openxmlformats.org/officeDocument/2006/relationships/notesMaster" Target="/ppt/notesMasters/notesMaster1.xml" Id="R718d490c7ae54d97" /><Relationship Type="http://schemas.openxmlformats.org/officeDocument/2006/relationships/presProps" Target="/ppt/presProps.xml" Id="R91258e83f193462a" /><Relationship Type="http://schemas.openxmlformats.org/officeDocument/2006/relationships/tableStyles" Target="/ppt/tableStyles.xml" Id="Ra1d6ab79620b4572" /><Relationship Type="http://schemas.openxmlformats.org/officeDocument/2006/relationships/slide" Target="/ppt/slides/slide1.xml" Id="Rbf1a16d6b5dd41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82a86773104a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acc7ae59e54078" /><Relationship Type="http://schemas.openxmlformats.org/officeDocument/2006/relationships/notesMaster" Target="/ppt/notesMasters/notesMaster1.xml" Id="R55cd6165c9ba49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라우팅에서 가장 어려웠던 점은 요청의 종류와 난이도에 따라 적절한 모델을 안정적으로 선택하는 것이었습니다.</a:t>
            </a:r>
          </a:p>
          <a:p xmlns:a="http://schemas.openxmlformats.org/drawingml/2006/main">
            <a:r>
              <a:t>카테고리 분류는 새 모델로 교체하지 않고, 기존의 점수 기반 판정 방식을 그대로 유지했습니다.</a:t>
            </a:r>
          </a:p>
          <a:p xmlns:a="http://schemas.openxmlformats.org/drawingml/2006/main">
            <a:r>
              <a:t>대신 카테고리 판정 결과에 난이도 판단을 연결해 요청을 Simple 또는 Complex 경로로 나누었습니다.</a:t>
            </a:r>
          </a:p>
          <a:p xmlns:a="http://schemas.openxmlformats.org/drawingml/2006/main">
            <a:r>
              <a:t>그 결과 정답 라벨 1,000건의 오프라인 평가에서 정확도가 92.2%에서 100.0%로 향상됐고, 오분류는 78건에서 0건으로 감소했습니다.</a:t>
            </a:r>
          </a:p>
          <a:p xmlns:a="http://schemas.openxmlformats.org/drawingml/2006/main">
            <a:r>
              <a:t>검증된 점수 기반 카테고리 분류는 유지하면서, 요청 특성에 맞는 모델을 자동으로 선택할 수 있게 됐습니다.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8087085b845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b0b41527fd4f37" /><Relationship Type="http://schemas.openxmlformats.org/officeDocument/2006/relationships/slideLayout" Target="/ppt/slideLayouts/slideLayout1.xml" Id="Rfd030182ddbb4c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030182ddbb4c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95f600cdf473b" /><Relationship Type="http://schemas.openxmlformats.org/officeDocument/2006/relationships/notesSlide" Target="/ppt/notesSlides/notesSlide1.xml" Id="R53371683e0364d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rule">
            <a:extLst xmlns:a="http://schemas.openxmlformats.org/drawingml/2006/main">
              <a:ext uri="{FF2B5EF4-FFF2-40B4-BE49-F238E27FC236}">
                <a16:creationId xmlns:a16="http://schemas.microsoft.com/office/drawing/2014/main" id="{1D5434D6-D5BB-4642-B48A-D51E325D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09575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E8"/>
          </a:solidFill>
          <a:ln xmlns:a="http://schemas.openxmlformats.org/drawingml/2006/main" w="0">
            <a:solidFill>
              <a:srgbClr val="2F66E8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930EE6-182A-4FFE-A1C5-1A0A4124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82234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82234"/>
                </a:solidFill>
                <a:latin typeface="Noto Sans KR"/>
                <a:ea typeface="Noto Sans KR"/>
                <a:cs typeface="Noto Sans KR"/>
              </a:rPr>
              <a:t>기술적 챌린지</a:t>
            </a:r>
          </a:p>
        </p:txBody>
      </p:sp>
      <p:sp>
        <p:nvSpPr>
          <p:cNvPr id="3" name="challenge-pill">
            <a:extLst xmlns:a="http://schemas.openxmlformats.org/drawingml/2006/main">
              <a:ext uri="{FF2B5EF4-FFF2-40B4-BE49-F238E27FC236}">
                <a16:creationId xmlns:a16="http://schemas.microsoft.com/office/drawing/2014/main" id="{FA06E26E-7BD3-46D3-A799-4CC457F9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219200"/>
            <a:ext cx="1381125" cy="333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4747"/>
          </a:solidFill>
          <a:ln xmlns:a="http://schemas.openxmlformats.org/drawingml/2006/main" w="0">
            <a:solidFill>
              <a:srgbClr val="F44747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Challenge 02</a:t>
            </a:r>
          </a:p>
        </p:txBody>
      </p:sp>
      <p:sp>
        <p:nvSpPr>
          <p:cNvPr id="4" name="challenge-title">
            <a:extLst xmlns:a="http://schemas.openxmlformats.org/drawingml/2006/main">
              <a:ext uri="{FF2B5EF4-FFF2-40B4-BE49-F238E27FC236}">
                <a16:creationId xmlns:a16="http://schemas.microsoft.com/office/drawing/2014/main" id="{09C6FDB7-A3A5-4236-BFD9-39BE73FB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133475"/>
            <a:ext cx="833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234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82234"/>
                </a:solidFill>
                <a:latin typeface="Noto Sans KR"/>
                <a:ea typeface="Noto Sans KR"/>
                <a:cs typeface="Noto Sans KR"/>
              </a:rPr>
              <a:t>요청별 최적 모델 라우팅 정확도 개선</a:t>
            </a:r>
          </a:p>
        </p:txBody>
      </p:sp>
      <p:sp>
        <p:nvSpPr>
          <p:cNvPr id="5" name="arrow-start-anchor">
            <a:extLst xmlns:a="http://schemas.openxmlformats.org/drawingml/2006/main">
              <a:ext uri="{FF2B5EF4-FFF2-40B4-BE49-F238E27FC236}">
                <a16:creationId xmlns:a16="http://schemas.microsoft.com/office/drawing/2014/main" id="{C2F9DD51-14B8-49B2-BF6A-429BE5CF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1467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rrow-end-anchor">
            <a:extLst xmlns:a="http://schemas.openxmlformats.org/drawingml/2006/main">
              <a:ext uri="{FF2B5EF4-FFF2-40B4-BE49-F238E27FC236}">
                <a16:creationId xmlns:a16="http://schemas.microsoft.com/office/drawing/2014/main" id="{BDAB9BE8-A09A-4FCA-A17F-C14772DD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14675"/>
            <a:ext cx="38100" cy="38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4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5429250" y="31337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rnd">
            <a:solidFill>
              <a:srgbClr val="182234"/>
            </a:solidFill>
            <a:prstDash val="solid"/>
            <a:round/>
            <a:tailEnd type="arrow" w="lg" len="lg"/>
          </a:ln>
        </p:spPr>
      </p:cxnSp>
      <p:sp>
        <p:nvSpPr>
          <p:cNvPr id="8" name="baseline-card">
            <a:extLst xmlns:a="http://schemas.openxmlformats.org/drawingml/2006/main">
              <a:ext uri="{FF2B5EF4-FFF2-40B4-BE49-F238E27FC236}">
                <a16:creationId xmlns:a16="http://schemas.microsoft.com/office/drawing/2014/main" id="{A0E6AEA9-8B45-4F3C-B52B-349EEBB5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47875"/>
            <a:ext cx="352425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6E4"/>
            </a:solidFill>
            <a:prstDash val="solid"/>
          </a:ln>
        </p:spPr>
      </p:sp>
      <p:sp>
        <p:nvSpPr>
          <p:cNvPr id="9" name="improved-card">
            <a:extLst xmlns:a="http://schemas.openxmlformats.org/drawingml/2006/main">
              <a:ext uri="{FF2B5EF4-FFF2-40B4-BE49-F238E27FC236}">
                <a16:creationId xmlns:a16="http://schemas.microsoft.com/office/drawing/2014/main" id="{1C1B6674-80A6-40BC-8522-D05D753B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47875"/>
            <a:ext cx="352425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F66E8"/>
            </a:solidFill>
            <a:prstDash val="solid"/>
          </a:ln>
        </p:spPr>
      </p:sp>
      <p:sp>
        <p:nvSpPr>
          <p:cNvPr id="10" name="baseline-label">
            <a:extLst xmlns:a="http://schemas.openxmlformats.org/drawingml/2006/main">
              <a:ext uri="{FF2B5EF4-FFF2-40B4-BE49-F238E27FC236}">
                <a16:creationId xmlns:a16="http://schemas.microsoft.com/office/drawing/2014/main" id="{C2A7AB82-CA1B-44ED-BB6E-C7346970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90775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44747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44747"/>
                </a:solidFill>
                <a:latin typeface="Noto Sans KR"/>
                <a:ea typeface="Noto Sans KR"/>
                <a:cs typeface="Noto Sans KR"/>
              </a:rPr>
              <a:t>초기 분류 정확도</a:t>
            </a:r>
          </a:p>
        </p:txBody>
      </p:sp>
      <p:sp>
        <p:nvSpPr>
          <p:cNvPr id="11" name="baseline-value">
            <a:extLst xmlns:a="http://schemas.openxmlformats.org/drawingml/2006/main">
              <a:ext uri="{FF2B5EF4-FFF2-40B4-BE49-F238E27FC236}">
                <a16:creationId xmlns:a16="http://schemas.microsoft.com/office/drawing/2014/main" id="{6FD92BB3-8E57-4609-92CE-418A7069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337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92.2%</a:t>
            </a:r>
          </a:p>
        </p:txBody>
      </p:sp>
      <p:sp>
        <p:nvSpPr>
          <p:cNvPr id="12" name="baseline-error-count">
            <a:extLst xmlns:a="http://schemas.openxmlformats.org/drawingml/2006/main">
              <a:ext uri="{FF2B5EF4-FFF2-40B4-BE49-F238E27FC236}">
                <a16:creationId xmlns:a16="http://schemas.microsoft.com/office/drawing/2014/main" id="{D47A0F07-EDC6-4B51-AE4E-CA2CB71E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81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F7B8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F7B8E"/>
                </a:solidFill>
                <a:latin typeface="Noto Sans KR"/>
                <a:ea typeface="Noto Sans KR"/>
                <a:cs typeface="Noto Sans KR"/>
              </a:rPr>
              <a:t>오분류 78건</a:t>
            </a:r>
          </a:p>
        </p:txBody>
      </p:sp>
      <p:sp>
        <p:nvSpPr>
          <p:cNvPr id="13" name="improved-label">
            <a:extLst xmlns:a="http://schemas.openxmlformats.org/drawingml/2006/main">
              <a:ext uri="{FF2B5EF4-FFF2-40B4-BE49-F238E27FC236}">
                <a16:creationId xmlns:a16="http://schemas.microsoft.com/office/drawing/2014/main" id="{74AE3149-D485-437D-88F2-0BCA1B71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90775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F66E8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F66E8"/>
                </a:solidFill>
                <a:latin typeface="Noto Sans KR"/>
                <a:ea typeface="Noto Sans KR"/>
                <a:cs typeface="Noto Sans KR"/>
              </a:rPr>
              <a:t>개선 후 분류 정확도</a:t>
            </a:r>
          </a:p>
        </p:txBody>
      </p:sp>
      <p:sp>
        <p:nvSpPr>
          <p:cNvPr id="14" name="improved-value">
            <a:extLst xmlns:a="http://schemas.openxmlformats.org/drawingml/2006/main">
              <a:ext uri="{FF2B5EF4-FFF2-40B4-BE49-F238E27FC236}">
                <a16:creationId xmlns:a16="http://schemas.microsoft.com/office/drawing/2014/main" id="{60CFA598-26E7-4AA8-B65D-7B64E6BF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337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00000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0000"/>
                </a:solidFill>
                <a:latin typeface="Noto Sans KR"/>
                <a:ea typeface="Noto Sans KR"/>
                <a:cs typeface="Noto Sans KR"/>
              </a:rPr>
              <a:t>100.0%</a:t>
            </a:r>
          </a:p>
        </p:txBody>
      </p:sp>
      <p:sp>
        <p:nvSpPr>
          <p:cNvPr id="15" name="improved-error-count">
            <a:extLst xmlns:a="http://schemas.openxmlformats.org/drawingml/2006/main">
              <a:ext uri="{FF2B5EF4-FFF2-40B4-BE49-F238E27FC236}">
                <a16:creationId xmlns:a16="http://schemas.microsoft.com/office/drawing/2014/main" id="{9C483B04-6B96-4FC9-913B-59903B6E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814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6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66E8"/>
                </a:solidFill>
                <a:latin typeface="Noto Sans KR"/>
                <a:ea typeface="Noto Sans KR"/>
                <a:cs typeface="Noto Sans KR"/>
              </a:rPr>
              <a:t>오분류 0건</a:t>
            </a:r>
          </a:p>
        </p:txBody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7A078F27-DC59-426D-A476-F711DE56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95300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82234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2F66E8"/>
                </a:solidFill>
                <a:latin typeface="Noto Sans KR"/>
                <a:ea typeface="Noto Sans KR"/>
                <a:cs typeface="Noto Sans KR"/>
              </a:rPr>
              <a:t>분류 정확도 개선</a:t>
            </a:r>
            <a:r>
              <a:rPr sz="2625" b="1">
                <a:solidFill>
                  <a:srgbClr val="182234"/>
                </a:solidFill>
                <a:latin typeface="Noto Sans KR"/>
                <a:ea typeface="Noto Sans KR"/>
                <a:cs typeface="Noto Sans KR"/>
              </a:rPr>
              <a:t>으로 요청별 모델 라우팅 </a:t>
            </a:r>
            <a:r>
              <a:rPr sz="2625" b="1">
                <a:solidFill>
                  <a:srgbClr val="2F66E8"/>
                </a:solidFill>
                <a:latin typeface="Noto Sans KR"/>
                <a:ea typeface="Noto Sans KR"/>
                <a:cs typeface="Noto Sans KR"/>
              </a:rPr>
              <a:t>신뢰성 확보</a:t>
            </a:r>
          </a:p>
        </p:txBody>
      </p:sp>
      <p:sp>
        <p:nvSpPr>
          <p:cNvPr id="17" name="evidence-footnote">
            <a:extLst xmlns:a="http://schemas.openxmlformats.org/drawingml/2006/main">
              <a:ext uri="{FF2B5EF4-FFF2-40B4-BE49-F238E27FC236}">
                <a16:creationId xmlns:a16="http://schemas.microsoft.com/office/drawing/2014/main" id="{82491BB8-D09D-4EA6-A644-7A4BF84C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276975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5A8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8A95A8"/>
                </a:solidFill>
                <a:latin typeface="Noto Sans KR"/>
                <a:ea typeface="Noto Sans KR"/>
                <a:cs typeface="Noto Sans KR"/>
              </a:rPr>
              <a:t>정답 라벨 1,000건 기준 · 오프라인 카테고리 분류 평가 (2026.07.13 → 07.14)</a:t>
            </a:r>
          </a:p>
        </p:txBody>
      </p:sp>
    </p:spTree>
    <p:extLst>
      <p:ext uri="{BB962C8B-B14F-4D97-AF65-F5344CB8AC3E}">
        <p14:creationId xmlns:p14="http://schemas.microsoft.com/office/powerpoint/2010/main" val="10084596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2026-07-15T02:41:56.3570000Z</dcterms:created>
  <dcterms:modified xsi:type="dcterms:W3CDTF">2026-07-15T02:41:56.3570000Z</dcterms:modified>
</coreProperties>
</file>